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1" r:id="rId4"/>
    <p:sldId id="265" r:id="rId14"/>
    <p:sldId id="266" r:id="rId15"/>
    <p:sldId id="260" r:id="rId5"/>
    <p:sldId id="258" r:id="rId6"/>
    <p:sldId id="267" r:id="rId16"/>
    <p:sldId id="262" r:id="rId11"/>
    <p:sldId id="263" r:id="rId12"/>
    <p:sldId id="264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805EF48-35C6-8E4E-85EE-2A93661F3577}">
          <p14:sldIdLst>
            <p14:sldId id="256"/>
            <p14:sldId id="257"/>
            <p14:sldId id="261"/>
            <p14:sldId id="260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4"/>
  </p:normalViewPr>
  <p:slideViewPr>
    <p:cSldViewPr snapToGrid="0" snapToObjects="1">
      <p:cViewPr varScale="1">
        <p:scale>
          <a:sx n="139" d="100"/>
          <a:sy n="139" d="100"/>
        </p:scale>
        <p:origin x="17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452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599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3000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65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708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165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098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171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673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864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2943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87647-F8BD-C94E-AA96-5483FA59F16D}" type="datetimeFigureOut">
              <a:rPr lang="es-CL" smtClean="0"/>
              <a:t>13-07-22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FB1B-6C00-4A4D-8B58-8E4D030A93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379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B49AF-A1AE-CB4A-A4E5-8A929A712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7288" y="1703540"/>
            <a:ext cx="5212080" cy="1051560"/>
          </a:xfrm>
        </p:spPr>
        <p:txBody>
          <a:bodyPr wrap="square"/>
          <a:lstStyle/>
          <a:p>
            <a:pPr algn="l"/>
            <a:r>
              <a:rPr lang="es-CL" dirty="0" sz="3000">
                <a:solidFill>
                  <a:schemeClr val="bg1"/>
                </a:solidFill>
              </a:rPr>
              <a:t>Pagos electrónicos: Webpay Plus (Transbank)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C9AA80-5312-5D4C-A1D8-6A5295B89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7288" y="3063240"/>
            <a:ext cx="5212080" cy="644200"/>
          </a:xfrm>
        </p:spPr>
        <p:txBody>
          <a:bodyPr wrap="square"/>
          <a:lstStyle/>
          <a:p>
            <a:pPr algn="l"/>
            <a:r>
              <a:rPr lang="es-CL" dirty="0" sz="1400">
                <a:solidFill>
                  <a:schemeClr val="bg1"/>
                </a:solidFill>
              </a:rPr>
              <a:t>Sistemas Distribuidos — arquitectura, comunicación y tolerancia a fallos</a:t>
            </a:r>
          </a:p>
        </p:txBody>
      </p:sp>
    </p:spTree>
    <p:extLst>
      <p:ext uri="{BB962C8B-B14F-4D97-AF65-F5344CB8AC3E}">
        <p14:creationId xmlns:p14="http://schemas.microsoft.com/office/powerpoint/2010/main" val="67296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1.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Cambria"/>
              </a:rPr>
              <a:t>¿Qué problema resuelve y por qué no un solo computador?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8138160" cy="384048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CFDDF2"/>
                </a:solidFill>
                <a:latin typeface="Calibri"/>
              </a:rPr>
              <a:t>Webpay Plus autoriza pagos con tarjeta entre el comercio, el banco del comprador y las marcas (Visa/Mastercard/Redcompra) en segundos, para miles de comercios a la vez.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36192"/>
            <a:ext cx="3931920" cy="144475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1682496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655064"/>
            <a:ext cx="310896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Control repartido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03120"/>
            <a:ext cx="3547872" cy="75895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El comercio, Transbank, cada banco emisor y las marcas de tarjeta son organizaciones distintas: cada una controla sus propios datos y no puede vivir en la máquina de otra.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536192"/>
            <a:ext cx="3931920" cy="144475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28032" y="1682496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1655064"/>
            <a:ext cx="310896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Disponibilidad y volumen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103120"/>
            <a:ext cx="3547872" cy="75895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Millones de transacciones al día, con picos como CyberDay: un solo nodo sería un punto único de falla imposible de sostener.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63824"/>
            <a:ext cx="3931920" cy="144475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3310128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3282696"/>
            <a:ext cx="310896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Separación de seguridad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730752"/>
            <a:ext cx="3547872" cy="75895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Los datos de la tarjeta deben aislarse del servidor del comercio (normativa PCI-DSS); no es seguro mezclarlo todo en un computador.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163824"/>
            <a:ext cx="3931920" cy="144475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28032" y="3310128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3282696"/>
            <a:ext cx="310896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Cobertura nacional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730752"/>
            <a:ext cx="3547872" cy="75895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Comprador, comercio y banco pueden estar en ciudades distintas: se necesita una red de nodos cercana a cada actor, no un servidor central.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3094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2. NODOS Y 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mbria"/>
              </a:rPr>
              <a:t>Nodos de la red y quién los controla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8138160" cy="3246120"/>
        </p:xfrm>
        <a:graphic>
          <a:graphicData uri="http://schemas.openxmlformats.org/drawingml/2006/table">
            <a:tbl>
              <a:tblPr bandRow="1"/>
              <a:tblGrid>
                <a:gridCol w="2788920"/>
                <a:gridCol w="3063240"/>
                <a:gridCol w="2286000"/>
              </a:tblGrid>
              <a:tr h="541020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0C4596"/>
                          </a:solidFill>
                          <a:latin typeface="Calibri"/>
                        </a:rPr>
                        <a:t>Nodo</a:t>
                      </a:r>
                    </a:p>
                  </a:txBody>
                  <a:tcPr marL="109728" marT="45720" marB="45720" anchor="ctr">
                    <a:solidFill>
                      <a:srgbClr val="F2B705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0C4596"/>
                          </a:solidFill>
                          <a:latin typeface="Calibri"/>
                        </a:rPr>
                        <a:t>¿Quién lo controla?</a:t>
                      </a:r>
                    </a:p>
                  </a:txBody>
                  <a:tcPr marL="109728" marT="45720" marB="45720" anchor="ctr">
                    <a:solidFill>
                      <a:srgbClr val="F2B705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0C4596"/>
                          </a:solidFill>
                          <a:latin typeface="Calibri"/>
                        </a:rPr>
                        <a:t>Distancia / alcance</a:t>
                      </a:r>
                    </a:p>
                  </a:txBody>
                  <a:tcPr marL="109728" marT="45720" marB="45720" anchor="ctr">
                    <a:solidFill>
                      <a:srgbClr val="F2B705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Navegador del comprador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El propio comprador (tarjetahabiente)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Local, en su dispositivo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Servidor del comercio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La tienda / empresa que vende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Nacional o internacional (su hosting)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Webpay Plus (API REST) de Transbank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Transbank S.A. (switch de pagos)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Data centers de Transbank en Chile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Banco emisor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El banco que emitió la tarjeta (ej. BancoEstado, Santander)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Nacional, red bancaria privada</a:t>
                      </a:r>
                    </a:p>
                  </a:txBody>
                  <a:tcPr marL="109728" marT="36576" marB="36576" anchor="ctr">
                    <a:solidFill>
                      <a:srgbClr val="0C4596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Redes de marca / Redcompra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Visa, Mastercard o la red de débito nacional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FDDF2"/>
                          </a:solidFill>
                          <a:latin typeface="Calibri"/>
                        </a:rPr>
                        <a:t>Nacional e internacional</a:t>
                      </a:r>
                    </a:p>
                  </a:txBody>
                  <a:tcPr marL="109728" marT="36576" marB="36576" anchor="ctr">
                    <a:solidFill>
                      <a:srgbClr val="1B56A8"/>
                    </a:solidFill>
                    <a:lnL w="3175" cap="flat">
                      <a:noFill/>
                    </a:lnL>
                    <a:lnR w="3175" cap="flat">
                      <a:noFill/>
                    </a:lnR>
                    <a:lnT w="3175" cap="flat">
                      <a:noFill/>
                    </a:lnT>
                    <a:lnB w="3175" cap="flat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81728"/>
            <a:ext cx="8138160" cy="292608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CFDDF2"/>
                </a:solidFill>
                <a:latin typeface="Calibri"/>
              </a:rPr>
              <a:t>Cada nodo pertenece a una organización distinta y ninguna controla a las demás: por eso el pago no puede resolverse en un solo computador.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759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2B705"/>
                </a:solidFill>
                <a:latin typeface="Calibri"/>
              </a:rPr>
              <a:t>3. CARACTERIZACIÓN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mbria"/>
              </a:rPr>
              <a:t>Las cuatro características de un sistema distribuido, en Webpay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931920" cy="153619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517904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490472"/>
            <a:ext cx="3108960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Concurrencia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38528"/>
            <a:ext cx="3547872" cy="85039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30" b="0">
                <a:solidFill>
                  <a:srgbClr val="CFDDF2"/>
                </a:solidFill>
                <a:latin typeface="Calibri"/>
              </a:rPr>
              <a:t>Miles de comercios y compradores ejecutan pagos al mismo tiempo, en procesos independientes que Webpay atiende sin memoria compartida entre ellos.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3931920" cy="153619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28032" y="1517904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8" y="1490472"/>
            <a:ext cx="3108960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Sin reloj global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938528"/>
            <a:ext cx="3547872" cy="85039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30" b="0">
                <a:solidFill>
                  <a:srgbClr val="CFDDF2"/>
                </a:solidFill>
                <a:latin typeface="Calibri"/>
              </a:rPr>
              <a:t>Comprador, comercio, Transbank y banco tienen cada uno su propio reloj; el orden de los mensajes (crear → autorizar → confirmar) se coordina por mensajes y tiempos de espera, no por un reloj común.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90672"/>
            <a:ext cx="3931920" cy="153619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3236976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209544"/>
            <a:ext cx="3108960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Fallos independientes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657600"/>
            <a:ext cx="3547872" cy="85039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30" b="0">
                <a:solidFill>
                  <a:srgbClr val="CFDDF2"/>
                </a:solidFill>
                <a:latin typeface="Calibri"/>
              </a:rPr>
              <a:t>El incidente del 31-01-2023 lo mostró: Transbank pudo seguir operando con sus servidores de respaldo mientras otros bancos y cajeros fallaban por su cuenta, de forma independiente.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090672"/>
            <a:ext cx="3931920" cy="1536192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28032" y="3236976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3209544"/>
            <a:ext cx="3108960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Recursos compartidos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3657600"/>
            <a:ext cx="3547872" cy="85039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30" b="0">
                <a:solidFill>
                  <a:srgbClr val="CFDDF2"/>
                </a:solidFill>
                <a:latin typeface="Calibri"/>
              </a:rPr>
              <a:t>Miles de comercios distintos usan la misma infraestructura de Webpay Plus como un servicio común, sin ser dueños de ella.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30947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2B705"/>
                </a:solidFill>
                <a:latin typeface="Calibri"/>
              </a:rPr>
              <a:t>4. MODELO Y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mbria"/>
              </a:rPr>
              <a:t>Clasificación en la taxonomía y modelo arquitectónico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261872" cy="420624"/>
          </a:xfrm>
          <a:prstGeom prst="roundRect">
            <a:avLst>
              <a:gd name="adj" fmla="val 30000"/>
            </a:avLst>
          </a:prstGeom>
          <a:solidFill>
            <a:srgbClr val="F2B705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C4596"/>
                </a:solidFill>
                <a:latin typeface="Calibri"/>
              </a:rPr>
              <a:t>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20" y="1298448"/>
            <a:ext cx="1261872" cy="420624"/>
          </a:xfrm>
          <a:prstGeom prst="roundRect">
            <a:avLst>
              <a:gd name="adj" fmla="val 30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CFDDF2"/>
                </a:solidFill>
                <a:latin typeface="Calibri"/>
              </a:rPr>
              <a:t>Grid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298448"/>
            <a:ext cx="1261872" cy="420624"/>
          </a:xfrm>
          <a:prstGeom prst="roundRect">
            <a:avLst>
              <a:gd name="adj" fmla="val 30000"/>
            </a:avLst>
          </a:prstGeom>
          <a:solidFill>
            <a:srgbClr val="F2B705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C4596"/>
                </a:solidFill>
                <a:latin typeface="Calibri"/>
              </a:rPr>
              <a:t>Cloud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298448"/>
            <a:ext cx="1261872" cy="420624"/>
          </a:xfrm>
          <a:prstGeom prst="roundRect">
            <a:avLst>
              <a:gd name="adj" fmla="val 30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CFDDF2"/>
                </a:solidFill>
                <a:latin typeface="Calibri"/>
              </a:rPr>
              <a:t>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298448"/>
            <a:ext cx="1261872" cy="420624"/>
          </a:xfrm>
          <a:prstGeom prst="roundRect">
            <a:avLst>
              <a:gd name="adj" fmla="val 30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CFDDF2"/>
                </a:solidFill>
                <a:latin typeface="Calibri"/>
              </a:rPr>
              <a:t>P2P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298448"/>
            <a:ext cx="1261872" cy="420624"/>
          </a:xfrm>
          <a:prstGeom prst="roundRect">
            <a:avLst>
              <a:gd name="adj" fmla="val 30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CFDDF2"/>
                </a:solidFill>
                <a:latin typeface="Calibri"/>
              </a:rPr>
              <a:t>Ubicuo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83664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002536"/>
            <a:ext cx="3566160" cy="292608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2B705"/>
                </a:solidFill>
                <a:latin typeface="Calibri"/>
              </a:rPr>
              <a:t>Cloud pública (AWS) — pilar central 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77440"/>
            <a:ext cx="3566160" cy="1298448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19" b="0">
                <a:solidFill>
                  <a:srgbClr val="CFDDF2"/>
                </a:solidFill>
                <a:latin typeface="Calibri"/>
              </a:rPr>
              <a:t>Transbank ha migrado la mayor parte de su arquitectura moderna a la nube pública (AWS): la API REST, la orquestación de pagos, la base de datos y la validación de seguridad corren en ese entorno para lograr alta disponibilidad y elasticidad.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883664"/>
            <a:ext cx="4023360" cy="1874519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2002536"/>
            <a:ext cx="3657600" cy="292608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2B705"/>
                </a:solidFill>
                <a:latin typeface="Calibri"/>
              </a:rPr>
              <a:t>Cluster — escalabilidad bajo demanda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377440"/>
            <a:ext cx="3657600" cy="1298448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19" b="0">
                <a:solidFill>
                  <a:srgbClr val="CFDDF2"/>
                </a:solidFill>
                <a:latin typeface="Calibri"/>
              </a:rPr>
              <a:t>Para sostener millones de transacciones simultáneas (ej. CyberDay), los servidores en la nube se agrupan en clusters que actúan como una sola unidad: si un nodo de validación falla o se satura, otros lo absorben sin interrumpir el servicio.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3"/>
            <a:ext cx="8138160" cy="932688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986783"/>
            <a:ext cx="7772400" cy="7772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50">
                <a:solidFill>
                  <a:srgbClr val="FFFFFF"/>
                </a:solidFill>
              </a:defRPr>
            </a:pPr>
            <a:r>
              <a:rPr sz="1000" b="1">
                <a:solidFill>
                  <a:srgbClr val="CFDDF2"/>
                </a:solidFill>
                <a:latin typeface="Calibri"/>
              </a:rPr>
              <a:t>Modelo arquitectónico: cliente-servidor por capas (N-tier, REST) sobre esa base cloud + cluster.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CFDDF2"/>
                </a:solidFill>
                <a:latin typeface="Calibri"/>
              </a:rPr>
              <a:t>Alternativa descartada: P2P — no hay simetría entre nodos, cada uno cumple siempre el mismo rol fijo (cliente o servidor).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18304"/>
            <a:ext cx="8138160" cy="25603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80" b="0">
                <a:solidFill>
                  <a:srgbClr val="F2B705"/>
                </a:solidFill>
                <a:latin typeface="Calibri"/>
              </a:rPr>
              <a:t>¹ Transbank Developers, documentación oficial; oferta laboral “Líder Arquitectura Cloud” publicada por Transbank en LinkedIn (fuentes 2 y 4).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3094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5. COMUNICACIÓN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mbria"/>
              </a:rPr>
              <a:t>¿Cómo se comunican los nodos?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587752" cy="342900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2221992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2B705"/>
                </a:solidFill>
                <a:latin typeface="Calibri"/>
              </a:rPr>
              <a:t>Protocolos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984248"/>
            <a:ext cx="2203704" cy="2697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HTTPS + REST/JSON entre comercio y Webpay Plus, con TLS 1.2 o superior.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El Webpay clásico usaba SOAP/XML; hoy la API REST es el estándar vigente.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Entre bancos y marcas se usa ISO 8583, el estándar de mensajería financiera, por canales privados.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417320"/>
            <a:ext cx="2587752" cy="342900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554480"/>
            <a:ext cx="2221992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2B705"/>
                </a:solidFill>
                <a:latin typeface="Calibri"/>
              </a:rPr>
              <a:t>Tipos de mensaje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84248"/>
            <a:ext cx="2203704" cy="2697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Creación de transacción (POST /transactions) con monto y orden de compra.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Redirección del comprador al formulario de pago del banco/Webpay.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Confirmación (commit) y respuesta de autorización o rechazo.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4184" y="1417320"/>
            <a:ext cx="2587752" cy="342900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7064" y="1554480"/>
            <a:ext cx="2221992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2B705"/>
                </a:solidFill>
                <a:latin typeface="Calibri"/>
              </a:rPr>
              <a:t>Síncrono / asíncrono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984248"/>
            <a:ext cx="2203704" cy="2697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La autorización con el banco emisor es síncrona: el flujo espera esa respuesta antes de continuar.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CFDDF2"/>
                </a:solidFill>
                <a:latin typeface="Calibri"/>
              </a:rPr>
              <a:t>•  El retorno al comercio ocurre por redirección HTTP, en la práctica desacoplado del resto del proceso.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96561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2B705"/>
                </a:solidFill>
                <a:latin typeface="Calibri"/>
              </a:rPr>
              <a:t>6. FALLAS Y TOLERANCIA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Qué falla y cómo se tolera: el “vuelo” o retención no cobrada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292608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30" b="0">
                <a:solidFill>
                  <a:srgbClr val="CFDDF2"/>
                </a:solidFill>
                <a:latin typeface="Calibri"/>
              </a:rPr>
              <a:t>Conocido en el sistema de pagos chileno como “transacción duplicada” o “vuelo”: el dinero nunca sale del banco, solo queda apartado unos instantes.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286000" cy="621792"/>
          </a:xfrm>
          <a:prstGeom prst="roundRect">
            <a:avLst>
              <a:gd name="adj" fmla="val 16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Tu banco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(Santander)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280160"/>
            <a:ext cx="2286000" cy="621792"/>
          </a:xfrm>
          <a:prstGeom prst="roundRect">
            <a:avLst>
              <a:gd name="adj" fmla="val 16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Webpay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(Transbank)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80160"/>
            <a:ext cx="2286000" cy="621792"/>
          </a:xfrm>
          <a:prstGeom prst="roundRect">
            <a:avLst>
              <a:gd name="adj" fmla="val 16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Tienda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(comercio)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2011680"/>
            <a:ext cx="640080" cy="0"/>
          </a:xfrm>
          <a:prstGeom prst="line">
            <a:avLst/>
          </a:prstGeom>
          <a:ln w="19050">
            <a:solidFill>
              <a:srgbClr val="4CAF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971800" y="1856232"/>
            <a:ext cx="274320" cy="2743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57400"/>
            <a:ext cx="1280160" cy="274320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840" b="0">
                <a:solidFill>
                  <a:srgbClr val="CFDDF2"/>
                </a:solidFill>
                <a:latin typeface="Calibri"/>
              </a:rPr>
              <a:t>Autoriza y congela saldo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0" y="2011680"/>
            <a:ext cx="640080" cy="0"/>
          </a:xfrm>
          <a:prstGeom prst="line">
            <a:avLst/>
          </a:prstGeom>
          <a:ln w="19050">
            <a:solidFill>
              <a:srgbClr val="E06B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897880" y="1856232"/>
            <a:ext cx="274320" cy="274320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057400"/>
            <a:ext cx="1280160" cy="274320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840" b="0">
                <a:solidFill>
                  <a:srgbClr val="CFDDF2"/>
                </a:solidFill>
                <a:latin typeface="Calibri"/>
              </a:rPr>
              <a:t>Confirmar venta — falla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572000" y="2029968"/>
            <a:ext cx="0" cy="603504"/>
          </a:xfrm>
          <a:prstGeom prst="line">
            <a:avLst/>
          </a:prstGeom>
          <a:ln w="15875">
            <a:solidFill>
              <a:srgbClr val="F2B70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45920" y="2029968"/>
            <a:ext cx="0" cy="603504"/>
          </a:xfrm>
          <a:prstGeom prst="line">
            <a:avLst/>
          </a:prstGeom>
          <a:ln w="15875">
            <a:solidFill>
              <a:srgbClr val="F2B70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645920" y="2633472"/>
            <a:ext cx="2926080" cy="0"/>
          </a:xfrm>
          <a:prstGeom prst="line">
            <a:avLst/>
          </a:prstGeom>
          <a:ln w="15875">
            <a:solidFill>
              <a:srgbClr val="F2B70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971800" y="2496312"/>
            <a:ext cx="274320" cy="2743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816352"/>
            <a:ext cx="2926080" cy="274320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840" b="0">
                <a:solidFill>
                  <a:srgbClr val="F2B705"/>
                </a:solidFill>
                <a:latin typeface="Calibri"/>
              </a:rPr>
              <a:t>Reversa: Webpay ordena liberar el cupo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01568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511296"/>
            <a:ext cx="274320" cy="2743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493008"/>
            <a:ext cx="1984248" cy="274320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Autorización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822192"/>
            <a:ext cx="2313432" cy="557784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880" b="0">
                <a:solidFill>
                  <a:srgbClr val="CFDDF2"/>
                </a:solidFill>
                <a:latin typeface="Calibri"/>
              </a:rPr>
              <a:t>Webpay le pregunta al banco si hay saldo. El banco lo congela para asegurarlo — por eso ves el movimiento en tu app.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3401568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83280" y="3511296"/>
            <a:ext cx="274320" cy="2743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3493008"/>
            <a:ext cx="1984248" cy="274320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Confirmación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2424" y="3822192"/>
            <a:ext cx="2313432" cy="557784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880" b="0">
                <a:solidFill>
                  <a:srgbClr val="CFDDF2"/>
                </a:solidFill>
                <a:latin typeface="Calibri"/>
              </a:rPr>
              <a:t>Webpay intenta avisarle a la tienda que el pago está listo. Si la conexión falla o el servidor no responde en ese instante, la compra se cancela.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401568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26480" y="3511296"/>
            <a:ext cx="274320" cy="2743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C4596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493008"/>
            <a:ext cx="1984248" cy="274320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Reversa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624" y="3822192"/>
            <a:ext cx="2313432" cy="557784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880" b="0">
                <a:solidFill>
                  <a:srgbClr val="CFDDF2"/>
                </a:solidFill>
                <a:latin typeface="Calibri"/>
              </a:rPr>
              <a:t>Como la tienda nunca confirmó, Webpay le ordena al banco liberar el cupo: el saldo disponible vuelve a la normalidad.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572000"/>
            <a:ext cx="8138160" cy="384048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00" b="0">
                <a:solidFill>
                  <a:srgbClr val="CFDDF2"/>
                </a:solidFill>
                <a:latin typeface="Calibri"/>
              </a:rPr>
              <a:t>Lección de sistemas distribuidos: sin un coordinador de transacción único entre organizaciones autónomas, la consistencia se logra revirtiendo después (transacción compensatoria), no con un commit atómico instantáneo; el registro visual en la cartola puede tardar horas o días en reflejarlo.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8128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2B705"/>
                </a:solidFill>
                <a:latin typeface="Calibri"/>
              </a:rPr>
              <a:t>7. DESAFÍOS Y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mbria"/>
              </a:rPr>
              <a:t>Desafíos, una falacia y el trade-off CAP en Webpay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931920" cy="1481328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508760"/>
            <a:ext cx="365760" cy="36576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81328"/>
            <a:ext cx="315468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Heterogeneidad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01952"/>
            <a:ext cx="3547872" cy="841248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19" b="0">
                <a:solidFill>
                  <a:srgbClr val="CFDDF2"/>
                </a:solidFill>
                <a:latin typeface="Calibri"/>
              </a:rPr>
              <a:t>Sistemas bancarios distintos (legados y modernos) deben interoperar. Se resuelve estandarizando mensajes: ISO 8583 entre bancos, REST/JSON entre comercio y Transbank.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3931920" cy="1481328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28032" y="1508760"/>
            <a:ext cx="365760" cy="36576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481328"/>
            <a:ext cx="315468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901952"/>
            <a:ext cx="3547872" cy="841248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19" b="0">
                <a:solidFill>
                  <a:srgbClr val="CFDDF2"/>
                </a:solidFill>
                <a:latin typeface="Calibri"/>
              </a:rPr>
              <a:t>Los datos de la tarjeta viajan entre organizaciones que no confían plenamente entre sí. Se resuelve con tokenización, TLS y cumplimiento PCI-DSS: el comercio nunca ve el número completo.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54096"/>
            <a:ext cx="3931920" cy="141732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13970">
            <a:solidFill>
              <a:srgbClr val="E0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163824"/>
            <a:ext cx="356616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E06B5C"/>
                </a:solidFill>
                <a:latin typeface="Calibri"/>
              </a:rPr>
              <a:t>Falacia: “la red es confiable”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566160"/>
            <a:ext cx="3566160" cy="8229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19" b="0">
                <a:solidFill>
                  <a:srgbClr val="CFDDF2"/>
                </a:solidFill>
                <a:latin typeface="Calibri"/>
              </a:rPr>
              <a:t>El 31-01-2023 se asumió que otros nodos (bancos, cajeros) tendrían planes de contingencia tan sólidos como los de Transbank; cuando fallaron, la falacia quedó en evidencia.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054096"/>
            <a:ext cx="3931920" cy="141732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1397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3163824"/>
            <a:ext cx="3566160" cy="32004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2B705"/>
                </a:solidFill>
                <a:latin typeface="Calibri"/>
              </a:rPr>
              <a:t>Trade-off CAP: prioriza Consistencia (CP)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566160"/>
            <a:ext cx="3566160" cy="8229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19" b="0">
                <a:solidFill>
                  <a:srgbClr val="CFDDF2"/>
                </a:solidFill>
                <a:latin typeface="Calibri"/>
              </a:rPr>
              <a:t>Ante una partición, prefiere rechazar o demorar una transacción antes que arriesgar un cobro duplicado: en el incidente, se enrutó el 100% con éxito a servidores de respaldo en vez de procesar sin verificar.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30947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8. TRANSPARENCIAS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mbria"/>
              </a:rPr>
              <a:t>Qué transparencias ofrece Webpay y cuáles 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931920" cy="342900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 Sí ofrece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984248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Acceso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El comercio usa una sola API REST, sin saber cómo Webpay habla con cada banco.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916936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Ubicación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El comercio no necesita saber en qué data center se procesa su transacción.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849624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Replicación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El failover a servidores de respaldo es invisible cuando la contingencia funciona.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417320"/>
            <a:ext cx="3931920" cy="3429000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554480"/>
            <a:ext cx="3566160" cy="3657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E06B5C"/>
                </a:solidFill>
                <a:latin typeface="Calibri"/>
              </a:rPr>
              <a:t>✗  No ofrece / limitada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1984248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Fallos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Si el banco emisor falla, el rechazo o cobro doble sí se expone al usuario.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916936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Concurrencia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En eventos masivos (CyberDay) la alta demanda genera demoras visibles.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849624"/>
            <a:ext cx="3547872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1">
                <a:solidFill>
                  <a:srgbClr val="CFDDF2"/>
                </a:solidFill>
                <a:latin typeface="Calibri"/>
              </a:rPr>
              <a:t>Rendimiento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CFDDF2"/>
                </a:solidFill>
                <a:latin typeface="Calibri"/>
              </a:rPr>
              <a:t>Cada banco responde a distinta velocidad y eso se nota entre medios de pago.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30947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F2B705"/>
                </a:solidFill>
                <a:latin typeface="Calibri"/>
              </a:rPr>
              <a:t>9. DIAGRAMA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mbria"/>
              </a:rPr>
              <a:t>Diagrama de nodos y mensajes (base para Docker)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417320" cy="777240"/>
          </a:xfrm>
          <a:prstGeom prst="roundRect">
            <a:avLst>
              <a:gd name="adj" fmla="val 14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Cliente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(navegador)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691640"/>
            <a:ext cx="1417320" cy="777240"/>
          </a:xfrm>
          <a:prstGeom prst="roundRect">
            <a:avLst>
              <a:gd name="adj" fmla="val 14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Comercio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(servidor)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691640"/>
            <a:ext cx="1508760" cy="777240"/>
          </a:xfrm>
          <a:prstGeom prst="roundRect">
            <a:avLst>
              <a:gd name="adj" fmla="val 14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Webpay Plus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(Transbank)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1737360" cy="658368"/>
          </a:xfrm>
          <a:prstGeom prst="roundRect">
            <a:avLst>
              <a:gd name="adj" fmla="val 14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Banco emisor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578608"/>
            <a:ext cx="1737360" cy="777240"/>
          </a:xfrm>
          <a:prstGeom prst="roundRect">
            <a:avLst>
              <a:gd name="adj" fmla="val 14000"/>
            </a:avLst>
          </a:prstGeom>
          <a:solidFill>
            <a:srgbClr val="1B56A8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Marca / Red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(Visa · Redcompra)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080260"/>
            <a:ext cx="411480" cy="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970532" y="1924812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40" y="2080260"/>
            <a:ext cx="411480" cy="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99332" y="1924812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669280" y="1289304"/>
            <a:ext cx="685800" cy="566928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56732" y="1417320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2304288"/>
            <a:ext cx="685800" cy="66294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56732" y="2480310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14900" y="2468880"/>
            <a:ext cx="0" cy="18288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759452" y="2404872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040380" y="2651760"/>
            <a:ext cx="1120140" cy="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211580" y="2651760"/>
            <a:ext cx="1828800" cy="0"/>
          </a:xfrm>
          <a:prstGeom prst="line">
            <a:avLst/>
          </a:prstGeom>
          <a:ln w="19050">
            <a:solidFill>
              <a:srgbClr val="CFDDF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970532" y="2496312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C4596"/>
                </a:solidFill>
                <a:latin typeface="Calibri"/>
              </a:rPr>
              <a:t>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40380" y="2468880"/>
            <a:ext cx="0" cy="182880"/>
          </a:xfrm>
          <a:prstGeom prst="line">
            <a:avLst/>
          </a:prstGeom>
          <a:ln w="19050">
            <a:solidFill>
              <a:srgbClr val="CF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1580" y="2468880"/>
            <a:ext cx="0" cy="182880"/>
          </a:xfrm>
          <a:prstGeom prst="line">
            <a:avLst/>
          </a:prstGeom>
          <a:ln w="19050">
            <a:solidFill>
              <a:srgbClr val="CF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02920" y="3474720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3429000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Cliente elige pagar — HTTPS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385876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3813048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Comercio crea la transacción — HTTPS/REST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4242816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" y="4197096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Webpay solicita autorización al emisor — ISO 8583</a:t>
            </a:r>
          </a:p>
        </p:txBody>
      </p:sp>
      <p:sp>
        <p:nvSpPr>
          <p:cNvPr id="30" name="Oval 29"/>
          <p:cNvSpPr/>
          <p:nvPr/>
        </p:nvSpPr>
        <p:spPr>
          <a:xfrm>
            <a:off x="4663440" y="3474720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624" y="3429000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Webpay valida con la red de la tarjeta — ISO 8583</a:t>
            </a:r>
          </a:p>
        </p:txBody>
      </p:sp>
      <p:sp>
        <p:nvSpPr>
          <p:cNvPr id="32" name="Oval 31"/>
          <p:cNvSpPr/>
          <p:nvPr/>
        </p:nvSpPr>
        <p:spPr>
          <a:xfrm>
            <a:off x="4663440" y="385876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2624" y="3813048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Autorización o rechazo vuelve a Webpay</a:t>
            </a:r>
          </a:p>
        </p:txBody>
      </p:sp>
      <p:sp>
        <p:nvSpPr>
          <p:cNvPr id="34" name="Oval 33"/>
          <p:cNvSpPr/>
          <p:nvPr/>
        </p:nvSpPr>
        <p:spPr>
          <a:xfrm>
            <a:off x="4663440" y="4242816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C4596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4197096"/>
            <a:ext cx="3749039" cy="347472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9" b="0">
                <a:solidFill>
                  <a:srgbClr val="CFDDF2"/>
                </a:solidFill>
                <a:latin typeface="Calibri"/>
              </a:rPr>
              <a:t>Resultado llega al comercio y al cliente — redirect HTTP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681728"/>
            <a:ext cx="7772400" cy="2743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>
                <a:solidFill>
                  <a:srgbClr val="F2B705"/>
                </a:solidFill>
                <a:latin typeface="Calibri"/>
              </a:rPr>
              <a:t>Implementación prevista en Docker: contenedores comercio, mock-transbank (simula Webpay Plus) y emisor, comunicados por HTTP en una misma 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30947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2B705"/>
                </a:solidFill>
                <a:latin typeface="Calibri"/>
              </a:rPr>
              <a:t>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Cambria"/>
              </a:rPr>
              <a:t>Referencias y bibliografía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8138160" cy="676656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79576"/>
            <a:ext cx="292608" cy="29260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C4596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088136"/>
            <a:ext cx="7360920" cy="603504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Tanenbaum, A. S. &amp; Van Steen, M. (2017). Distributed Systems: Principles and Paradigms (3.ª ed.).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880" b="0">
                <a:solidFill>
                  <a:srgbClr val="CFDDF2"/>
                </a:solidFill>
                <a:latin typeface="Calibri"/>
              </a:rPr>
              <a:t>Bibliografía del curso — base conceptual usada en toda la presentación.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8138160" cy="676656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911096"/>
            <a:ext cx="292608" cy="29260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C4596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19656"/>
            <a:ext cx="7360920" cy="603504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Transbank Developers (s.f.). Documentación oficial de Webpay Plus. transbankdevelopers.cl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880" b="0">
                <a:solidFill>
                  <a:srgbClr val="CFDDF2"/>
                </a:solidFill>
                <a:latin typeface="Calibri"/>
              </a:rPr>
              <a:t>Describe el flujo de pago y confirma la API REST sobre infraestructura cloud (comunicación y arquitectura).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8138160" cy="676656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642616"/>
            <a:ext cx="292608" cy="29260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C459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51176"/>
            <a:ext cx="7360920" cy="603504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La Tercera (31 de enero de 2023). “Transbank reconoce intermitencias en su servicio y apunta a caída de datacenter externo”.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880" b="0">
                <a:solidFill>
                  <a:srgbClr val="CFDDF2"/>
                </a:solidFill>
                <a:latin typeface="Calibri"/>
              </a:rPr>
              <a:t>Incidente real de falla a nivel de infraestructura (mención complementaria).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46120"/>
            <a:ext cx="8138160" cy="676656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374136"/>
            <a:ext cx="292608" cy="29260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C4596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282696"/>
            <a:ext cx="7360920" cy="603504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Transbank (LinkedIn, oferta laboral). “Líder Arquitectura Cloud”.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880" b="0">
                <a:solidFill>
                  <a:srgbClr val="CFDDF2"/>
                </a:solidFill>
                <a:latin typeface="Calibri"/>
              </a:rPr>
              <a:t>Confirma la migración de la arquitectura a la nube pública (AWS); evidencia complementaria, no documentación técnica primaria.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40"/>
            <a:ext cx="8138160" cy="676656"/>
          </a:xfrm>
          <a:prstGeom prst="roundRect">
            <a:avLst>
              <a:gd name="adj" fmla="val 8000"/>
            </a:avLst>
          </a:prstGeom>
          <a:solidFill>
            <a:srgbClr val="1B56A8"/>
          </a:solidFill>
          <a:ln w="9525">
            <a:solidFill>
              <a:srgbClr val="3A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105656"/>
            <a:ext cx="292608" cy="29260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C4596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014216"/>
            <a:ext cx="7360920" cy="603504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Centro de ayuda de comercio asociado a Webpay (Autofact, s.f.). “¿Qué hago si el pago fue rechazado pero me descontaron el dinero?”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880" b="0">
                <a:solidFill>
                  <a:srgbClr val="CFDDF2"/>
                </a:solidFill>
                <a:latin typeface="Calibri"/>
              </a:rPr>
              <a:t>Describe la política oficial de reverso automático de Webpay (24–48 h hábiles), usada en la sección de fallas y tolerancia.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27448"/>
            <a:ext cx="7863840" cy="2286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0">
                <a:solidFill>
                  <a:srgbClr val="F2B705"/>
                </a:solidFill>
                <a:latin typeface="Calibri"/>
              </a:rPr>
              <a:t>* La fuente 1 corresponde a la bibliografía del programa del curso.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FDDF2"/>
                </a:solidFill>
                <a:latin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30947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2</Words>
  <Application>Microsoft Macintosh PowerPoint</Application>
  <PresentationFormat>Presentación en pantalla (16:9)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PORTADA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5</cp:revision>
  <dcterms:created xsi:type="dcterms:W3CDTF">2022-04-20T21:54:46Z</dcterms:created>
  <dcterms:modified xsi:type="dcterms:W3CDTF">2022-07-13T14:34:53Z</dcterms:modified>
</cp:coreProperties>
</file>