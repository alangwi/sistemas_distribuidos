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61" r:id="rId4"/>
    <p:sldId id="260" r:id="rId5"/>
    <p:sldId id="258" r:id="rId6"/>
    <p:sldId id="262" r:id="rId11"/>
    <p:sldId id="263" r:id="rId12"/>
    <p:sldId id="264" r:id="rId13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cción predeterminada" id="{F805EF48-35C6-8E4E-85EE-2A93661F3577}">
          <p14:sldIdLst>
            <p14:sldId id="256"/>
            <p14:sldId id="257"/>
            <p14:sldId id="261"/>
            <p14:sldId id="260"/>
            <p14:sldId id="25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4674"/>
  </p:normalViewPr>
  <p:slideViewPr>
    <p:cSldViewPr snapToGrid="0" snapToObjects="1">
      <p:cViewPr varScale="1">
        <p:scale>
          <a:sx n="139" d="100"/>
          <a:sy n="139" d="100"/>
        </p:scale>
        <p:origin x="176" y="5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487647-F8BD-C94E-AA96-5483FA59F16D}" type="datetimeFigureOut">
              <a:rPr lang="es-CL" smtClean="0"/>
              <a:t>13-07-22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29FB1B-6C00-4A4D-8B58-8E4D030A934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2745231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487647-F8BD-C94E-AA96-5483FA59F16D}" type="datetimeFigureOut">
              <a:rPr lang="es-CL" smtClean="0"/>
              <a:t>13-07-22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29FB1B-6C00-4A4D-8B58-8E4D030A934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5259939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487647-F8BD-C94E-AA96-5483FA59F16D}" type="datetimeFigureOut">
              <a:rPr lang="es-CL" smtClean="0"/>
              <a:t>13-07-22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29FB1B-6C00-4A4D-8B58-8E4D030A934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1930004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487647-F8BD-C94E-AA96-5483FA59F16D}" type="datetimeFigureOut">
              <a:rPr lang="es-CL" smtClean="0"/>
              <a:t>13-07-22</a:t>
            </a:fld>
            <a:endParaRPr lang="es-C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29FB1B-6C00-4A4D-8B58-8E4D030A934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79658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487647-F8BD-C94E-AA96-5483FA59F16D}" type="datetimeFigureOut">
              <a:rPr lang="es-CL" smtClean="0"/>
              <a:t>13-07-22</a:t>
            </a:fld>
            <a:endParaRPr lang="es-C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29FB1B-6C00-4A4D-8B58-8E4D030A934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8470818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487647-F8BD-C94E-AA96-5483FA59F16D}" type="datetimeFigureOut">
              <a:rPr lang="es-CL" smtClean="0"/>
              <a:t>13-07-22</a:t>
            </a:fld>
            <a:endParaRPr lang="es-C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29FB1B-6C00-4A4D-8B58-8E4D030A934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9416557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487647-F8BD-C94E-AA96-5483FA59F16D}" type="datetimeFigureOut">
              <a:rPr lang="es-CL" smtClean="0"/>
              <a:t>13-07-22</a:t>
            </a:fld>
            <a:endParaRPr lang="es-C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29FB1B-6C00-4A4D-8B58-8E4D030A934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8309877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487647-F8BD-C94E-AA96-5483FA59F16D}" type="datetimeFigureOut">
              <a:rPr lang="es-CL" smtClean="0"/>
              <a:t>13-07-22</a:t>
            </a:fld>
            <a:endParaRPr lang="es-C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29FB1B-6C00-4A4D-8B58-8E4D030A934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1417180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487647-F8BD-C94E-AA96-5483FA59F16D}" type="datetimeFigureOut">
              <a:rPr lang="es-CL" smtClean="0"/>
              <a:t>13-07-22</a:t>
            </a:fld>
            <a:endParaRPr lang="es-C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29FB1B-6C00-4A4D-8B58-8E4D030A934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0167323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487647-F8BD-C94E-AA96-5483FA59F16D}" type="datetimeFigureOut">
              <a:rPr lang="es-CL" smtClean="0"/>
              <a:t>13-07-22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29FB1B-6C00-4A4D-8B58-8E4D030A934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7586470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487647-F8BD-C94E-AA96-5483FA59F16D}" type="datetimeFigureOut">
              <a:rPr lang="es-CL" smtClean="0"/>
              <a:t>13-07-22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29FB1B-6C00-4A4D-8B58-8E4D030A934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85294361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487647-F8BD-C94E-AA96-5483FA59F16D}" type="datetimeFigureOut">
              <a:rPr lang="es-CL" smtClean="0"/>
              <a:t>13-07-22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29FB1B-6C00-4A4D-8B58-8E4D030A934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0537981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C0B49AF-A1AE-CB4A-A4E5-8A929A7123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07288" y="1703540"/>
            <a:ext cx="5212080" cy="1051560"/>
          </a:xfrm>
        </p:spPr>
        <p:txBody>
          <a:bodyPr wrap="square"/>
          <a:lstStyle/>
          <a:p>
            <a:pPr algn="l"/>
            <a:r>
              <a:rPr lang="es-CL" dirty="0" sz="3000">
                <a:solidFill>
                  <a:schemeClr val="bg1"/>
                </a:solidFill>
              </a:rPr>
              <a:t>Pagos electrónicos: Webpay Plus (Transbank)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4C9AA80-5312-5D4C-A1D8-6A5295B899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07288" y="3063240"/>
            <a:ext cx="5212080" cy="644200"/>
          </a:xfrm>
        </p:spPr>
        <p:txBody>
          <a:bodyPr wrap="square"/>
          <a:lstStyle/>
          <a:p>
            <a:pPr algn="l"/>
            <a:r>
              <a:rPr lang="es-CL" dirty="0" sz="1400">
                <a:solidFill>
                  <a:schemeClr val="bg1"/>
                </a:solidFill>
              </a:rPr>
              <a:t>Sistemas Distribuidos — arquitectura, comunicación y tolerancia a fallos</a:t>
            </a:r>
          </a:p>
        </p:txBody>
      </p:sp>
    </p:spTree>
    <p:extLst>
      <p:ext uri="{BB962C8B-B14F-4D97-AF65-F5344CB8AC3E}">
        <p14:creationId xmlns:p14="http://schemas.microsoft.com/office/powerpoint/2010/main" val="6729607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73152"/>
            <a:ext cx="81381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b="1" i="0">
                <a:solidFill>
                  <a:srgbClr val="F2B705"/>
                </a:solidFill>
                <a:latin typeface="Calibri"/>
              </a:rPr>
              <a:t>1. EL PROBLEMA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81381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Cambria"/>
              </a:rPr>
              <a:t>¿Qué problema resuelve y por qué no un solo computador?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78992"/>
            <a:ext cx="8138160" cy="384048"/>
          </a:xfrm>
          <a:prstGeom prst="rect">
            <a:avLst/>
          </a:prstGeom>
          <a:noFill/>
        </p:spPr>
        <p:txBody>
          <a:bodyPr wrap="square" anchor="t" lIns="109728" rIns="109728" tIns="73152" bIns="73152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150" b="0">
                <a:solidFill>
                  <a:srgbClr val="CFDDF2"/>
                </a:solidFill>
                <a:latin typeface="Calibri"/>
              </a:rPr>
              <a:t>Webpay Plus autoriza pagos con tarjeta entre el comercio, el banco del comprador y las marcas (Visa/Mastercard/Redcompra) en segundos, para miles de comercios a la vez.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536192"/>
            <a:ext cx="3931920" cy="1444752"/>
          </a:xfrm>
          <a:prstGeom prst="roundRect">
            <a:avLst>
              <a:gd name="adj" fmla="val 8000"/>
            </a:avLst>
          </a:prstGeom>
          <a:solidFill>
            <a:srgbClr val="1B56A8"/>
          </a:solidFill>
          <a:ln w="9525">
            <a:solidFill>
              <a:srgbClr val="3A7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67512" y="1682496"/>
            <a:ext cx="384048" cy="384048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0C4596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1655064"/>
            <a:ext cx="3108960" cy="320040"/>
          </a:xfrm>
          <a:prstGeom prst="rect">
            <a:avLst/>
          </a:prstGeom>
          <a:noFill/>
        </p:spPr>
        <p:txBody>
          <a:bodyPr wrap="square" anchor="t" lIns="109728" rIns="109728" tIns="73152" bIns="73152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50" b="1">
                <a:solidFill>
                  <a:srgbClr val="FFFFFF"/>
                </a:solidFill>
                <a:latin typeface="Calibri"/>
              </a:rPr>
              <a:t>Control repartido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088" y="2103120"/>
            <a:ext cx="3547872" cy="758952"/>
          </a:xfrm>
          <a:prstGeom prst="rect">
            <a:avLst/>
          </a:prstGeom>
          <a:noFill/>
        </p:spPr>
        <p:txBody>
          <a:bodyPr wrap="square" anchor="t" lIns="109728" rIns="109728" tIns="73152" bIns="73152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080" b="0">
                <a:solidFill>
                  <a:srgbClr val="CFDDF2"/>
                </a:solidFill>
                <a:latin typeface="Calibri"/>
              </a:rPr>
              <a:t>El comercio, Transbank, cada banco emisor y las marcas de tarjeta son organizaciones distintas: cada una controla sus propios datos y no puede vivir en la máquina de otra.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63440" y="1536192"/>
            <a:ext cx="3931920" cy="1444752"/>
          </a:xfrm>
          <a:prstGeom prst="roundRect">
            <a:avLst>
              <a:gd name="adj" fmla="val 8000"/>
            </a:avLst>
          </a:prstGeom>
          <a:solidFill>
            <a:srgbClr val="1B56A8"/>
          </a:solidFill>
          <a:ln w="9525">
            <a:solidFill>
              <a:srgbClr val="3A7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828032" y="1682496"/>
            <a:ext cx="384048" cy="384048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0C4596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21808" y="1655064"/>
            <a:ext cx="3108960" cy="320040"/>
          </a:xfrm>
          <a:prstGeom prst="rect">
            <a:avLst/>
          </a:prstGeom>
          <a:noFill/>
        </p:spPr>
        <p:txBody>
          <a:bodyPr wrap="square" anchor="t" lIns="109728" rIns="109728" tIns="73152" bIns="73152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50" b="1">
                <a:solidFill>
                  <a:srgbClr val="FFFFFF"/>
                </a:solidFill>
                <a:latin typeface="Calibri"/>
              </a:rPr>
              <a:t>Disponibilidad y volumen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64608" y="2103120"/>
            <a:ext cx="3547872" cy="758952"/>
          </a:xfrm>
          <a:prstGeom prst="rect">
            <a:avLst/>
          </a:prstGeom>
          <a:noFill/>
        </p:spPr>
        <p:txBody>
          <a:bodyPr wrap="square" anchor="t" lIns="109728" rIns="109728" tIns="73152" bIns="73152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080" b="0">
                <a:solidFill>
                  <a:srgbClr val="CFDDF2"/>
                </a:solidFill>
                <a:latin typeface="Calibri"/>
              </a:rPr>
              <a:t>Millones de transacciones al día, con picos como CyberDay: un solo nodo sería un punto único de falla imposible de sostener.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3163824"/>
            <a:ext cx="3931920" cy="1444752"/>
          </a:xfrm>
          <a:prstGeom prst="roundRect">
            <a:avLst>
              <a:gd name="adj" fmla="val 8000"/>
            </a:avLst>
          </a:prstGeom>
          <a:solidFill>
            <a:srgbClr val="1B56A8"/>
          </a:solidFill>
          <a:ln w="9525">
            <a:solidFill>
              <a:srgbClr val="3A7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67512" y="3310128"/>
            <a:ext cx="384048" cy="384048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0C4596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61288" y="3282696"/>
            <a:ext cx="3108960" cy="320040"/>
          </a:xfrm>
          <a:prstGeom prst="rect">
            <a:avLst/>
          </a:prstGeom>
          <a:noFill/>
        </p:spPr>
        <p:txBody>
          <a:bodyPr wrap="square" anchor="t" lIns="109728" rIns="109728" tIns="73152" bIns="73152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50" b="1">
                <a:solidFill>
                  <a:srgbClr val="FFFFFF"/>
                </a:solidFill>
                <a:latin typeface="Calibri"/>
              </a:rPr>
              <a:t>Separación de seguridad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" y="3730752"/>
            <a:ext cx="3547872" cy="758952"/>
          </a:xfrm>
          <a:prstGeom prst="rect">
            <a:avLst/>
          </a:prstGeom>
          <a:noFill/>
        </p:spPr>
        <p:txBody>
          <a:bodyPr wrap="square" anchor="t" lIns="109728" rIns="109728" tIns="73152" bIns="73152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080" b="0">
                <a:solidFill>
                  <a:srgbClr val="CFDDF2"/>
                </a:solidFill>
                <a:latin typeface="Calibri"/>
              </a:rPr>
              <a:t>Los datos de la tarjeta deben aislarse del servidor del comercio (normativa PCI-DSS); no es seguro mezclarlo todo en un computador.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663440" y="3163824"/>
            <a:ext cx="3931920" cy="1444752"/>
          </a:xfrm>
          <a:prstGeom prst="roundRect">
            <a:avLst>
              <a:gd name="adj" fmla="val 8000"/>
            </a:avLst>
          </a:prstGeom>
          <a:solidFill>
            <a:srgbClr val="1B56A8"/>
          </a:solidFill>
          <a:ln w="9525">
            <a:solidFill>
              <a:srgbClr val="3A7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828032" y="3310128"/>
            <a:ext cx="384048" cy="384048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0C4596"/>
                </a:solidFill>
                <a:latin typeface="Calibri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21808" y="3282696"/>
            <a:ext cx="3108960" cy="320040"/>
          </a:xfrm>
          <a:prstGeom prst="rect">
            <a:avLst/>
          </a:prstGeom>
          <a:noFill/>
        </p:spPr>
        <p:txBody>
          <a:bodyPr wrap="square" anchor="t" lIns="109728" rIns="109728" tIns="73152" bIns="73152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50" b="1">
                <a:solidFill>
                  <a:srgbClr val="FFFFFF"/>
                </a:solidFill>
                <a:latin typeface="Calibri"/>
              </a:rPr>
              <a:t>Cobertura nacional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64608" y="3730752"/>
            <a:ext cx="3547872" cy="758952"/>
          </a:xfrm>
          <a:prstGeom prst="rect">
            <a:avLst/>
          </a:prstGeom>
          <a:noFill/>
        </p:spPr>
        <p:txBody>
          <a:bodyPr wrap="square" anchor="t" lIns="109728" rIns="109728" tIns="73152" bIns="73152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080" b="0">
                <a:solidFill>
                  <a:srgbClr val="CFDDF2"/>
                </a:solidFill>
                <a:latin typeface="Calibri"/>
              </a:rPr>
              <a:t>Comprador, comercio y banco pueden estar en ciudades distintas: se necesita una red de nodos cercana a cada actor, no un servidor central.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49640" y="4864608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CFDDF2"/>
                </a:solidFill>
                <a:latin typeface="Calibri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7309475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73152"/>
            <a:ext cx="81381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b="1" i="0">
                <a:solidFill>
                  <a:srgbClr val="F2B705"/>
                </a:solidFill>
                <a:latin typeface="Calibri"/>
              </a:rPr>
              <a:t>2. ARQUITECTURA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81381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FFFFFF"/>
                </a:solidFill>
                <a:latin typeface="Cambria"/>
              </a:rPr>
              <a:t>Nodos de la red y quién los controla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371600"/>
          <a:ext cx="8138160" cy="3246120"/>
        </p:xfrm>
        <a:graphic>
          <a:graphicData uri="http://schemas.openxmlformats.org/drawingml/2006/table">
            <a:tbl>
              <a:tblPr bandRow="1"/>
              <a:tblGrid>
                <a:gridCol w="2788920"/>
                <a:gridCol w="3063240"/>
                <a:gridCol w="2286000"/>
              </a:tblGrid>
              <a:tr h="541020">
                <a:tc>
                  <a:txBody>
                    <a:bodyPr/>
                    <a:lstStyle/>
                    <a:p>
                      <a:r>
                        <a:rPr b="1" sz="1150">
                          <a:solidFill>
                            <a:srgbClr val="0C4596"/>
                          </a:solidFill>
                          <a:latin typeface="Calibri"/>
                        </a:rPr>
                        <a:t>Nodo</a:t>
                      </a:r>
                    </a:p>
                  </a:txBody>
                  <a:tcPr marL="109728" marT="45720" marB="45720" anchor="ctr">
                    <a:solidFill>
                      <a:srgbClr val="F2B705"/>
                    </a:solidFill>
                    <a:lnL w="3175" cap="flat">
                      <a:noFill/>
                    </a:lnL>
                    <a:lnR w="3175" cap="flat">
                      <a:noFill/>
                    </a:lnR>
                    <a:lnT w="3175" cap="flat">
                      <a:noFill/>
                    </a:lnT>
                    <a:lnB w="3175" cap="flat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b="1" sz="1150">
                          <a:solidFill>
                            <a:srgbClr val="0C4596"/>
                          </a:solidFill>
                          <a:latin typeface="Calibri"/>
                        </a:rPr>
                        <a:t>¿Quién lo controla?</a:t>
                      </a:r>
                    </a:p>
                  </a:txBody>
                  <a:tcPr marL="109728" marT="45720" marB="45720" anchor="ctr">
                    <a:solidFill>
                      <a:srgbClr val="F2B705"/>
                    </a:solidFill>
                    <a:lnL w="3175" cap="flat">
                      <a:noFill/>
                    </a:lnL>
                    <a:lnR w="3175" cap="flat">
                      <a:noFill/>
                    </a:lnR>
                    <a:lnT w="3175" cap="flat">
                      <a:noFill/>
                    </a:lnT>
                    <a:lnB w="3175" cap="flat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b="1" sz="1150">
                          <a:solidFill>
                            <a:srgbClr val="0C4596"/>
                          </a:solidFill>
                          <a:latin typeface="Calibri"/>
                        </a:rPr>
                        <a:t>Distancia / alcance</a:t>
                      </a:r>
                    </a:p>
                  </a:txBody>
                  <a:tcPr marL="109728" marT="45720" marB="45720" anchor="ctr">
                    <a:solidFill>
                      <a:srgbClr val="F2B705"/>
                    </a:solidFill>
                    <a:lnL w="3175" cap="flat">
                      <a:noFill/>
                    </a:lnL>
                    <a:lnR w="3175" cap="flat">
                      <a:noFill/>
                    </a:lnR>
                    <a:lnT w="3175" cap="flat">
                      <a:noFill/>
                    </a:lnT>
                    <a:lnB w="3175" cap="flat">
                      <a:noFill/>
                    </a:lnB>
                  </a:tcPr>
                </a:tc>
              </a:tr>
              <a:tr h="54102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Navegador del comprador</a:t>
                      </a:r>
                    </a:p>
                  </a:txBody>
                  <a:tcPr marL="109728" marT="36576" marB="36576" anchor="ctr">
                    <a:solidFill>
                      <a:srgbClr val="1B56A8"/>
                    </a:solidFill>
                    <a:lnL w="3175" cap="flat">
                      <a:noFill/>
                    </a:lnL>
                    <a:lnR w="3175" cap="flat">
                      <a:noFill/>
                    </a:lnR>
                    <a:lnT w="3175" cap="flat">
                      <a:noFill/>
                    </a:lnT>
                    <a:lnB w="3175" cap="flat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CFDDF2"/>
                          </a:solidFill>
                          <a:latin typeface="Calibri"/>
                        </a:rPr>
                        <a:t>El propio comprador (tarjetahabiente)</a:t>
                      </a:r>
                    </a:p>
                  </a:txBody>
                  <a:tcPr marL="109728" marT="36576" marB="36576" anchor="ctr">
                    <a:solidFill>
                      <a:srgbClr val="1B56A8"/>
                    </a:solidFill>
                    <a:lnL w="3175" cap="flat">
                      <a:noFill/>
                    </a:lnL>
                    <a:lnR w="3175" cap="flat">
                      <a:noFill/>
                    </a:lnR>
                    <a:lnT w="3175" cap="flat">
                      <a:noFill/>
                    </a:lnT>
                    <a:lnB w="3175" cap="flat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CFDDF2"/>
                          </a:solidFill>
                          <a:latin typeface="Calibri"/>
                        </a:rPr>
                        <a:t>Local, en su dispositivo</a:t>
                      </a:r>
                    </a:p>
                  </a:txBody>
                  <a:tcPr marL="109728" marT="36576" marB="36576" anchor="ctr">
                    <a:solidFill>
                      <a:srgbClr val="1B56A8"/>
                    </a:solidFill>
                    <a:lnL w="3175" cap="flat">
                      <a:noFill/>
                    </a:lnL>
                    <a:lnR w="3175" cap="flat">
                      <a:noFill/>
                    </a:lnR>
                    <a:lnT w="3175" cap="flat">
                      <a:noFill/>
                    </a:lnT>
                    <a:lnB w="3175" cap="flat">
                      <a:noFill/>
                    </a:lnB>
                  </a:tcPr>
                </a:tc>
              </a:tr>
              <a:tr h="54102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Servidor del comercio</a:t>
                      </a:r>
                    </a:p>
                  </a:txBody>
                  <a:tcPr marL="109728" marT="36576" marB="36576" anchor="ctr">
                    <a:solidFill>
                      <a:srgbClr val="0C4596"/>
                    </a:solidFill>
                    <a:lnL w="3175" cap="flat">
                      <a:noFill/>
                    </a:lnL>
                    <a:lnR w="3175" cap="flat">
                      <a:noFill/>
                    </a:lnR>
                    <a:lnT w="3175" cap="flat">
                      <a:noFill/>
                    </a:lnT>
                    <a:lnB w="3175" cap="flat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CFDDF2"/>
                          </a:solidFill>
                          <a:latin typeface="Calibri"/>
                        </a:rPr>
                        <a:t>La tienda / empresa que vende</a:t>
                      </a:r>
                    </a:p>
                  </a:txBody>
                  <a:tcPr marL="109728" marT="36576" marB="36576" anchor="ctr">
                    <a:solidFill>
                      <a:srgbClr val="0C4596"/>
                    </a:solidFill>
                    <a:lnL w="3175" cap="flat">
                      <a:noFill/>
                    </a:lnL>
                    <a:lnR w="3175" cap="flat">
                      <a:noFill/>
                    </a:lnR>
                    <a:lnT w="3175" cap="flat">
                      <a:noFill/>
                    </a:lnT>
                    <a:lnB w="3175" cap="flat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CFDDF2"/>
                          </a:solidFill>
                          <a:latin typeface="Calibri"/>
                        </a:rPr>
                        <a:t>Nacional o internacional (su hosting)</a:t>
                      </a:r>
                    </a:p>
                  </a:txBody>
                  <a:tcPr marL="109728" marT="36576" marB="36576" anchor="ctr">
                    <a:solidFill>
                      <a:srgbClr val="0C4596"/>
                    </a:solidFill>
                    <a:lnL w="3175" cap="flat">
                      <a:noFill/>
                    </a:lnL>
                    <a:lnR w="3175" cap="flat">
                      <a:noFill/>
                    </a:lnR>
                    <a:lnT w="3175" cap="flat">
                      <a:noFill/>
                    </a:lnT>
                    <a:lnB w="3175" cap="flat">
                      <a:noFill/>
                    </a:lnB>
                  </a:tcPr>
                </a:tc>
              </a:tr>
              <a:tr h="54102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Webpay Plus (API REST) de Transbank</a:t>
                      </a:r>
                    </a:p>
                  </a:txBody>
                  <a:tcPr marL="109728" marT="36576" marB="36576" anchor="ctr">
                    <a:solidFill>
                      <a:srgbClr val="1B56A8"/>
                    </a:solidFill>
                    <a:lnL w="3175" cap="flat">
                      <a:noFill/>
                    </a:lnL>
                    <a:lnR w="3175" cap="flat">
                      <a:noFill/>
                    </a:lnR>
                    <a:lnT w="3175" cap="flat">
                      <a:noFill/>
                    </a:lnT>
                    <a:lnB w="3175" cap="flat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CFDDF2"/>
                          </a:solidFill>
                          <a:latin typeface="Calibri"/>
                        </a:rPr>
                        <a:t>Transbank S.A. (switch de pagos)</a:t>
                      </a:r>
                    </a:p>
                  </a:txBody>
                  <a:tcPr marL="109728" marT="36576" marB="36576" anchor="ctr">
                    <a:solidFill>
                      <a:srgbClr val="1B56A8"/>
                    </a:solidFill>
                    <a:lnL w="3175" cap="flat">
                      <a:noFill/>
                    </a:lnL>
                    <a:lnR w="3175" cap="flat">
                      <a:noFill/>
                    </a:lnR>
                    <a:lnT w="3175" cap="flat">
                      <a:noFill/>
                    </a:lnT>
                    <a:lnB w="3175" cap="flat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CFDDF2"/>
                          </a:solidFill>
                          <a:latin typeface="Calibri"/>
                        </a:rPr>
                        <a:t>Data centers de Transbank en Chile</a:t>
                      </a:r>
                    </a:p>
                  </a:txBody>
                  <a:tcPr marL="109728" marT="36576" marB="36576" anchor="ctr">
                    <a:solidFill>
                      <a:srgbClr val="1B56A8"/>
                    </a:solidFill>
                    <a:lnL w="3175" cap="flat">
                      <a:noFill/>
                    </a:lnL>
                    <a:lnR w="3175" cap="flat">
                      <a:noFill/>
                    </a:lnR>
                    <a:lnT w="3175" cap="flat">
                      <a:noFill/>
                    </a:lnT>
                    <a:lnB w="3175" cap="flat">
                      <a:noFill/>
                    </a:lnB>
                  </a:tcPr>
                </a:tc>
              </a:tr>
              <a:tr h="54102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Banco emisor</a:t>
                      </a:r>
                    </a:p>
                  </a:txBody>
                  <a:tcPr marL="109728" marT="36576" marB="36576" anchor="ctr">
                    <a:solidFill>
                      <a:srgbClr val="0C4596"/>
                    </a:solidFill>
                    <a:lnL w="3175" cap="flat">
                      <a:noFill/>
                    </a:lnL>
                    <a:lnR w="3175" cap="flat">
                      <a:noFill/>
                    </a:lnR>
                    <a:lnT w="3175" cap="flat">
                      <a:noFill/>
                    </a:lnT>
                    <a:lnB w="3175" cap="flat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CFDDF2"/>
                          </a:solidFill>
                          <a:latin typeface="Calibri"/>
                        </a:rPr>
                        <a:t>El banco que emitió la tarjeta (ej. BancoEstado, Santander)</a:t>
                      </a:r>
                    </a:p>
                  </a:txBody>
                  <a:tcPr marL="109728" marT="36576" marB="36576" anchor="ctr">
                    <a:solidFill>
                      <a:srgbClr val="0C4596"/>
                    </a:solidFill>
                    <a:lnL w="3175" cap="flat">
                      <a:noFill/>
                    </a:lnL>
                    <a:lnR w="3175" cap="flat">
                      <a:noFill/>
                    </a:lnR>
                    <a:lnT w="3175" cap="flat">
                      <a:noFill/>
                    </a:lnT>
                    <a:lnB w="3175" cap="flat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CFDDF2"/>
                          </a:solidFill>
                          <a:latin typeface="Calibri"/>
                        </a:rPr>
                        <a:t>Nacional, red bancaria privada</a:t>
                      </a:r>
                    </a:p>
                  </a:txBody>
                  <a:tcPr marL="109728" marT="36576" marB="36576" anchor="ctr">
                    <a:solidFill>
                      <a:srgbClr val="0C4596"/>
                    </a:solidFill>
                    <a:lnL w="3175" cap="flat">
                      <a:noFill/>
                    </a:lnL>
                    <a:lnR w="3175" cap="flat">
                      <a:noFill/>
                    </a:lnR>
                    <a:lnT w="3175" cap="flat">
                      <a:noFill/>
                    </a:lnT>
                    <a:lnB w="3175" cap="flat">
                      <a:noFill/>
                    </a:lnB>
                  </a:tcPr>
                </a:tc>
              </a:tr>
              <a:tr h="54102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Redes de marca / Redcompra</a:t>
                      </a:r>
                    </a:p>
                  </a:txBody>
                  <a:tcPr marL="109728" marT="36576" marB="36576" anchor="ctr">
                    <a:solidFill>
                      <a:srgbClr val="1B56A8"/>
                    </a:solidFill>
                    <a:lnL w="3175" cap="flat">
                      <a:noFill/>
                    </a:lnL>
                    <a:lnR w="3175" cap="flat">
                      <a:noFill/>
                    </a:lnR>
                    <a:lnT w="3175" cap="flat">
                      <a:noFill/>
                    </a:lnT>
                    <a:lnB w="3175" cap="flat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CFDDF2"/>
                          </a:solidFill>
                          <a:latin typeface="Calibri"/>
                        </a:rPr>
                        <a:t>Visa, Mastercard o la red de débito nacional</a:t>
                      </a:r>
                    </a:p>
                  </a:txBody>
                  <a:tcPr marL="109728" marT="36576" marB="36576" anchor="ctr">
                    <a:solidFill>
                      <a:srgbClr val="1B56A8"/>
                    </a:solidFill>
                    <a:lnL w="3175" cap="flat">
                      <a:noFill/>
                    </a:lnL>
                    <a:lnR w="3175" cap="flat">
                      <a:noFill/>
                    </a:lnR>
                    <a:lnT w="3175" cap="flat">
                      <a:noFill/>
                    </a:lnT>
                    <a:lnB w="3175" cap="flat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CFDDF2"/>
                          </a:solidFill>
                          <a:latin typeface="Calibri"/>
                        </a:rPr>
                        <a:t>Nacional e internacional</a:t>
                      </a:r>
                    </a:p>
                  </a:txBody>
                  <a:tcPr marL="109728" marT="36576" marB="36576" anchor="ctr">
                    <a:solidFill>
                      <a:srgbClr val="1B56A8"/>
                    </a:solidFill>
                    <a:lnL w="3175" cap="flat">
                      <a:noFill/>
                    </a:lnL>
                    <a:lnR w="3175" cap="flat">
                      <a:noFill/>
                    </a:lnR>
                    <a:lnT w="3175" cap="flat">
                      <a:noFill/>
                    </a:lnT>
                    <a:lnB w="3175" cap="flat"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02920" y="4681728"/>
            <a:ext cx="8138160" cy="292608"/>
          </a:xfrm>
          <a:prstGeom prst="rect">
            <a:avLst/>
          </a:prstGeom>
          <a:noFill/>
        </p:spPr>
        <p:txBody>
          <a:bodyPr wrap="square" anchor="t" lIns="109728" rIns="109728" tIns="73152" bIns="73152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000" b="0">
                <a:solidFill>
                  <a:srgbClr val="CFDDF2"/>
                </a:solidFill>
                <a:latin typeface="Calibri"/>
              </a:rPr>
              <a:t>Cada nodo pertenece a una organización distinta y ninguna controla a las demás: por eso el pago no puede resolverse en un solo computador.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49640" y="4864608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CFDDF2"/>
                </a:solidFill>
                <a:latin typeface="Calibri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0275972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73152"/>
            <a:ext cx="81381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b="1" i="0">
                <a:solidFill>
                  <a:srgbClr val="F2B705"/>
                </a:solidFill>
                <a:latin typeface="Calibri"/>
              </a:rPr>
              <a:t>3. COMUNICACIÓN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81381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FFFFFF"/>
                </a:solidFill>
                <a:latin typeface="Cambria"/>
              </a:rPr>
              <a:t>¿Cómo se comunican los nodos?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417320"/>
            <a:ext cx="2587752" cy="3429000"/>
          </a:xfrm>
          <a:prstGeom prst="roundRect">
            <a:avLst>
              <a:gd name="adj" fmla="val 8000"/>
            </a:avLst>
          </a:prstGeom>
          <a:solidFill>
            <a:srgbClr val="1B56A8"/>
          </a:solidFill>
          <a:ln w="9525">
            <a:solidFill>
              <a:srgbClr val="3A7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554480"/>
            <a:ext cx="2221992" cy="365760"/>
          </a:xfrm>
          <a:prstGeom prst="rect">
            <a:avLst/>
          </a:prstGeom>
          <a:noFill/>
        </p:spPr>
        <p:txBody>
          <a:bodyPr wrap="square" anchor="t" lIns="109728" rIns="109728" tIns="73152" bIns="73152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400" b="1">
                <a:solidFill>
                  <a:srgbClr val="F2B705"/>
                </a:solidFill>
                <a:latin typeface="Calibri"/>
              </a:rPr>
              <a:t>Protocolos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4088" y="1984248"/>
            <a:ext cx="2203704" cy="2697480"/>
          </a:xfrm>
          <a:prstGeom prst="rect">
            <a:avLst/>
          </a:prstGeom>
          <a:noFill/>
        </p:spPr>
        <p:txBody>
          <a:bodyPr wrap="square" anchor="t" lIns="109728" rIns="109728" tIns="73152" bIns="73152">
            <a:spAutoFit/>
          </a:bodyPr>
          <a:lstStyle/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050" b="0">
                <a:solidFill>
                  <a:srgbClr val="CFDDF2"/>
                </a:solidFill>
                <a:latin typeface="Calibri"/>
              </a:rPr>
              <a:t>•  HTTPS + REST/JSON entre comercio y Webpay Plus, con TLS 1.2 o superior.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050" b="0">
                <a:solidFill>
                  <a:srgbClr val="CFDDF2"/>
                </a:solidFill>
                <a:latin typeface="Calibri"/>
              </a:rPr>
              <a:t>•  El Webpay clásico usaba SOAP/XML; hoy la API REST es el estándar vigente.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050" b="0">
                <a:solidFill>
                  <a:srgbClr val="CFDDF2"/>
                </a:solidFill>
                <a:latin typeface="Calibri"/>
              </a:rPr>
              <a:t>•  Entre bancos y marcas se usa ISO 8583, el estándar de mensajería financiera, por canales privados.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73552" y="1417320"/>
            <a:ext cx="2587752" cy="3429000"/>
          </a:xfrm>
          <a:prstGeom prst="roundRect">
            <a:avLst>
              <a:gd name="adj" fmla="val 8000"/>
            </a:avLst>
          </a:prstGeom>
          <a:solidFill>
            <a:srgbClr val="1B56A8"/>
          </a:solidFill>
          <a:ln w="9525">
            <a:solidFill>
              <a:srgbClr val="3A7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56432" y="1554480"/>
            <a:ext cx="2221992" cy="365760"/>
          </a:xfrm>
          <a:prstGeom prst="rect">
            <a:avLst/>
          </a:prstGeom>
          <a:noFill/>
        </p:spPr>
        <p:txBody>
          <a:bodyPr wrap="square" anchor="t" lIns="109728" rIns="109728" tIns="73152" bIns="73152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400" b="1">
                <a:solidFill>
                  <a:srgbClr val="F2B705"/>
                </a:solidFill>
                <a:latin typeface="Calibri"/>
              </a:rPr>
              <a:t>Tipos de mensaje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0" y="1984248"/>
            <a:ext cx="2203704" cy="2697480"/>
          </a:xfrm>
          <a:prstGeom prst="rect">
            <a:avLst/>
          </a:prstGeom>
          <a:noFill/>
        </p:spPr>
        <p:txBody>
          <a:bodyPr wrap="square" anchor="t" lIns="109728" rIns="109728" tIns="73152" bIns="73152">
            <a:spAutoFit/>
          </a:bodyPr>
          <a:lstStyle/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050" b="0">
                <a:solidFill>
                  <a:srgbClr val="CFDDF2"/>
                </a:solidFill>
                <a:latin typeface="Calibri"/>
              </a:rPr>
              <a:t>•  Creación de transacción (POST /transactions) con monto y orden de compra.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050" b="0">
                <a:solidFill>
                  <a:srgbClr val="CFDDF2"/>
                </a:solidFill>
                <a:latin typeface="Calibri"/>
              </a:rPr>
              <a:t>•  Redirección del comprador al formulario de pago del banco/Webpay.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050" b="0">
                <a:solidFill>
                  <a:srgbClr val="CFDDF2"/>
                </a:solidFill>
                <a:latin typeface="Calibri"/>
              </a:rPr>
              <a:t>•  Confirmación (commit) y respuesta de autorización o rechazo.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44184" y="1417320"/>
            <a:ext cx="2587752" cy="3429000"/>
          </a:xfrm>
          <a:prstGeom prst="roundRect">
            <a:avLst>
              <a:gd name="adj" fmla="val 8000"/>
            </a:avLst>
          </a:prstGeom>
          <a:solidFill>
            <a:srgbClr val="1B56A8"/>
          </a:solidFill>
          <a:ln w="9525">
            <a:solidFill>
              <a:srgbClr val="3A7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27064" y="1554480"/>
            <a:ext cx="2221992" cy="365760"/>
          </a:xfrm>
          <a:prstGeom prst="rect">
            <a:avLst/>
          </a:prstGeom>
          <a:noFill/>
        </p:spPr>
        <p:txBody>
          <a:bodyPr wrap="square" anchor="t" lIns="109728" rIns="109728" tIns="73152" bIns="73152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400" b="1">
                <a:solidFill>
                  <a:srgbClr val="F2B705"/>
                </a:solidFill>
                <a:latin typeface="Calibri"/>
              </a:rPr>
              <a:t>Síncrono / asíncrono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45352" y="1984248"/>
            <a:ext cx="2203704" cy="2697480"/>
          </a:xfrm>
          <a:prstGeom prst="rect">
            <a:avLst/>
          </a:prstGeom>
          <a:noFill/>
        </p:spPr>
        <p:txBody>
          <a:bodyPr wrap="square" anchor="t" lIns="109728" rIns="109728" tIns="73152" bIns="73152">
            <a:spAutoFit/>
          </a:bodyPr>
          <a:lstStyle/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050" b="0">
                <a:solidFill>
                  <a:srgbClr val="CFDDF2"/>
                </a:solidFill>
                <a:latin typeface="Calibri"/>
              </a:rPr>
              <a:t>•  La autorización con el banco emisor es síncrona: el flujo espera esa respuesta antes de continuar.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050" b="0">
                <a:solidFill>
                  <a:srgbClr val="CFDDF2"/>
                </a:solidFill>
                <a:latin typeface="Calibri"/>
              </a:rPr>
              <a:t>•  El retorno al comercio ocurre por redirección HTTP, en la práctica desacoplado del resto del proceso.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49640" y="4864608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CFDDF2"/>
                </a:solidFill>
                <a:latin typeface="Calibri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40965614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73152"/>
            <a:ext cx="81381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b="1" i="0">
                <a:solidFill>
                  <a:srgbClr val="F2B705"/>
                </a:solidFill>
                <a:latin typeface="Calibri"/>
              </a:rPr>
              <a:t>4. FALLAS Y TOLERANCIA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81381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Cambria"/>
              </a:rPr>
              <a:t>Qué falla y cómo se tolera: el incidente del 31-01-2023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371600"/>
            <a:ext cx="8138160" cy="1170432"/>
          </a:xfrm>
          <a:prstGeom prst="roundRect">
            <a:avLst>
              <a:gd name="adj" fmla="val 12000"/>
            </a:avLst>
          </a:prstGeom>
          <a:solidFill>
            <a:srgbClr val="1B56A8"/>
          </a:solidFill>
          <a:ln w="15875">
            <a:solidFill>
              <a:srgbClr val="F2B70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81328"/>
            <a:ext cx="7680960" cy="960120"/>
          </a:xfrm>
          <a:prstGeom prst="rect">
            <a:avLst/>
          </a:prstGeom>
          <a:noFill/>
        </p:spPr>
        <p:txBody>
          <a:bodyPr wrap="square" anchor="t" lIns="109728" rIns="109728" tIns="73152" bIns="73152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00" b="1">
                <a:solidFill>
                  <a:srgbClr val="F2B705"/>
                </a:solidFill>
                <a:latin typeface="Calibri"/>
              </a:rPr>
              <a:t>Caída nacional por falla de un datacenter externo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100" b="0">
                <a:solidFill>
                  <a:srgbClr val="FFFFFF"/>
                </a:solidFill>
                <a:latin typeface="Calibri"/>
              </a:rPr>
              <a:t>El 31 de enero de 2023 una falla en un centro de datos externo afectó a Transbank a nivel nacional: comercios no pudieron cobrar con tarjeta, fallaron retiros en cajeros y se vieron afectados Webpay Plus, OnePay y Webpay Transacción Completa.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724912"/>
            <a:ext cx="3977639" cy="1810512"/>
          </a:xfrm>
          <a:prstGeom prst="roundRect">
            <a:avLst>
              <a:gd name="adj" fmla="val 8000"/>
            </a:avLst>
          </a:prstGeom>
          <a:solidFill>
            <a:srgbClr val="1B56A8"/>
          </a:solidFill>
          <a:ln w="9525">
            <a:solidFill>
              <a:srgbClr val="3A7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834640"/>
            <a:ext cx="3611879" cy="320040"/>
          </a:xfrm>
          <a:prstGeom prst="rect">
            <a:avLst/>
          </a:prstGeom>
          <a:noFill/>
        </p:spPr>
        <p:txBody>
          <a:bodyPr wrap="square" anchor="t" lIns="109728" rIns="109728" tIns="73152" bIns="73152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00" b="1">
                <a:solidFill>
                  <a:srgbClr val="4CAF50"/>
                </a:solidFill>
                <a:latin typeface="Calibri"/>
              </a:rPr>
              <a:t>Cómo se toleró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088" y="3227832"/>
            <a:ext cx="3593591" cy="1170432"/>
          </a:xfrm>
          <a:prstGeom prst="rect">
            <a:avLst/>
          </a:prstGeom>
          <a:noFill/>
        </p:spPr>
        <p:txBody>
          <a:bodyPr wrap="square" anchor="t" lIns="109728" rIns="109728" tIns="73152" bIns="73152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030" b="0">
                <a:solidFill>
                  <a:srgbClr val="CFDDF2"/>
                </a:solidFill>
                <a:latin typeface="Calibri"/>
              </a:rPr>
              <a:t>Transbank activó sus planes de contingencia y continuidad operacional.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030" b="0">
                <a:solidFill>
                  <a:srgbClr val="CFDDF2"/>
                </a:solidFill>
                <a:latin typeface="Calibri"/>
              </a:rPr>
              <a:t>El 100% de las transacciones bajo su responsabilidad se enrutaron con éxito hacia servidores de respaldo (failover).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63439" y="2724912"/>
            <a:ext cx="3977639" cy="1810512"/>
          </a:xfrm>
          <a:prstGeom prst="roundRect">
            <a:avLst>
              <a:gd name="adj" fmla="val 8000"/>
            </a:avLst>
          </a:prstGeom>
          <a:solidFill>
            <a:srgbClr val="1B56A8"/>
          </a:solidFill>
          <a:ln w="9525">
            <a:solidFill>
              <a:srgbClr val="3A7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46319" y="2834640"/>
            <a:ext cx="3611879" cy="320040"/>
          </a:xfrm>
          <a:prstGeom prst="rect">
            <a:avLst/>
          </a:prstGeom>
          <a:noFill/>
        </p:spPr>
        <p:txBody>
          <a:bodyPr wrap="square" anchor="t" lIns="109728" rIns="109728" tIns="73152" bIns="73152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00" b="1">
                <a:solidFill>
                  <a:srgbClr val="E06B5C"/>
                </a:solidFill>
                <a:latin typeface="Calibri"/>
              </a:rPr>
              <a:t>Qué no se toleró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64607" y="3227832"/>
            <a:ext cx="3593591" cy="1170432"/>
          </a:xfrm>
          <a:prstGeom prst="rect">
            <a:avLst/>
          </a:prstGeom>
          <a:noFill/>
        </p:spPr>
        <p:txBody>
          <a:bodyPr wrap="square" anchor="t" lIns="109728" rIns="109728" tIns="73152" bIns="73152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030" b="0">
                <a:solidFill>
                  <a:srgbClr val="CFDDF2"/>
                </a:solidFill>
                <a:latin typeface="Calibri"/>
              </a:rPr>
              <a:t>Otros actores (bancos emisores, cajeros) no aplicaron sus propios planes de contingencia con la misma rapidez.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030" b="0">
                <a:solidFill>
                  <a:srgbClr val="CFDDF2"/>
                </a:solidFill>
                <a:latin typeface="Calibri"/>
              </a:rPr>
              <a:t>El fallo parcial de un nodo ajeno igual se hizo visible para el usuario final.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645152"/>
            <a:ext cx="8138160" cy="347472"/>
          </a:xfrm>
          <a:prstGeom prst="rect">
            <a:avLst/>
          </a:prstGeom>
          <a:noFill/>
        </p:spPr>
        <p:txBody>
          <a:bodyPr wrap="square" anchor="t" lIns="109728" rIns="109728" tIns="73152" bIns="73152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000" b="0">
                <a:solidFill>
                  <a:srgbClr val="CFDDF2"/>
                </a:solidFill>
                <a:latin typeface="Calibri"/>
              </a:rPr>
              <a:t>Lección de sistemas distribuidos: el fallo parcial es la norma, no la excepción; la tolerancia a fallos depende de todos los nodos, no solo de uno.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49640" y="4864608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CFDDF2"/>
                </a:solidFill>
                <a:latin typeface="Calibri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8812835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73152"/>
            <a:ext cx="81381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b="1" i="0">
                <a:solidFill>
                  <a:srgbClr val="F2B705"/>
                </a:solidFill>
                <a:latin typeface="Calibri"/>
              </a:rPr>
              <a:t>5. TRANSPARENCIAS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81381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Cambria"/>
              </a:rPr>
              <a:t>Qué transparencias ofrece Webpay y cuáles no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417320"/>
            <a:ext cx="3931920" cy="3429000"/>
          </a:xfrm>
          <a:prstGeom prst="roundRect">
            <a:avLst>
              <a:gd name="adj" fmla="val 8000"/>
            </a:avLst>
          </a:prstGeom>
          <a:solidFill>
            <a:srgbClr val="1B56A8"/>
          </a:solidFill>
          <a:ln w="9525">
            <a:solidFill>
              <a:srgbClr val="3A7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554480"/>
            <a:ext cx="3566160" cy="365760"/>
          </a:xfrm>
          <a:prstGeom prst="rect">
            <a:avLst/>
          </a:prstGeom>
          <a:noFill/>
        </p:spPr>
        <p:txBody>
          <a:bodyPr wrap="square" anchor="t" lIns="109728" rIns="109728" tIns="73152" bIns="73152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500" b="1">
                <a:solidFill>
                  <a:srgbClr val="4CAF50"/>
                </a:solidFill>
                <a:latin typeface="Calibri"/>
              </a:rPr>
              <a:t>✓  Sí ofrece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4088" y="1984248"/>
            <a:ext cx="3547872" cy="868680"/>
          </a:xfrm>
          <a:prstGeom prst="rect">
            <a:avLst/>
          </a:prstGeom>
          <a:noFill/>
        </p:spPr>
        <p:txBody>
          <a:bodyPr wrap="square" anchor="t" lIns="109728" rIns="109728" tIns="73152" bIns="73152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80" b="1">
                <a:solidFill>
                  <a:srgbClr val="CFDDF2"/>
                </a:solidFill>
                <a:latin typeface="Calibri"/>
              </a:rPr>
              <a:t>Acceso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80" b="0">
                <a:solidFill>
                  <a:srgbClr val="CFDDF2"/>
                </a:solidFill>
                <a:latin typeface="Calibri"/>
              </a:rPr>
              <a:t>El comercio usa una sola API REST, sin saber cómo Webpay habla con cada banco.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4088" y="2916936"/>
            <a:ext cx="3547872" cy="868680"/>
          </a:xfrm>
          <a:prstGeom prst="rect">
            <a:avLst/>
          </a:prstGeom>
          <a:noFill/>
        </p:spPr>
        <p:txBody>
          <a:bodyPr wrap="square" anchor="t" lIns="109728" rIns="109728" tIns="73152" bIns="73152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80" b="1">
                <a:solidFill>
                  <a:srgbClr val="CFDDF2"/>
                </a:solidFill>
                <a:latin typeface="Calibri"/>
              </a:rPr>
              <a:t>Ubicación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80" b="0">
                <a:solidFill>
                  <a:srgbClr val="CFDDF2"/>
                </a:solidFill>
                <a:latin typeface="Calibri"/>
              </a:rPr>
              <a:t>El comercio no necesita saber en qué data center se procesa su transacción.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088" y="3849624"/>
            <a:ext cx="3547872" cy="868680"/>
          </a:xfrm>
          <a:prstGeom prst="rect">
            <a:avLst/>
          </a:prstGeom>
          <a:noFill/>
        </p:spPr>
        <p:txBody>
          <a:bodyPr wrap="square" anchor="t" lIns="109728" rIns="109728" tIns="73152" bIns="73152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80" b="1">
                <a:solidFill>
                  <a:srgbClr val="CFDDF2"/>
                </a:solidFill>
                <a:latin typeface="Calibri"/>
              </a:rPr>
              <a:t>Replicación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80" b="0">
                <a:solidFill>
                  <a:srgbClr val="CFDDF2"/>
                </a:solidFill>
                <a:latin typeface="Calibri"/>
              </a:rPr>
              <a:t>El failover a servidores de respaldo es invisible cuando la contingencia funciona.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17720" y="1417320"/>
            <a:ext cx="3931920" cy="3429000"/>
          </a:xfrm>
          <a:prstGeom prst="roundRect">
            <a:avLst>
              <a:gd name="adj" fmla="val 8000"/>
            </a:avLst>
          </a:prstGeom>
          <a:solidFill>
            <a:srgbClr val="1B56A8"/>
          </a:solidFill>
          <a:ln w="9525">
            <a:solidFill>
              <a:srgbClr val="3A7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00600" y="1554480"/>
            <a:ext cx="3566160" cy="365760"/>
          </a:xfrm>
          <a:prstGeom prst="rect">
            <a:avLst/>
          </a:prstGeom>
          <a:noFill/>
        </p:spPr>
        <p:txBody>
          <a:bodyPr wrap="square" anchor="t" lIns="109728" rIns="109728" tIns="73152" bIns="73152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500" b="1">
                <a:solidFill>
                  <a:srgbClr val="E06B5C"/>
                </a:solidFill>
                <a:latin typeface="Calibri"/>
              </a:rPr>
              <a:t>✗  No ofrece / limitada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18888" y="1984248"/>
            <a:ext cx="3547872" cy="868680"/>
          </a:xfrm>
          <a:prstGeom prst="rect">
            <a:avLst/>
          </a:prstGeom>
          <a:noFill/>
        </p:spPr>
        <p:txBody>
          <a:bodyPr wrap="square" anchor="t" lIns="109728" rIns="109728" tIns="73152" bIns="73152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80" b="1">
                <a:solidFill>
                  <a:srgbClr val="CFDDF2"/>
                </a:solidFill>
                <a:latin typeface="Calibri"/>
              </a:rPr>
              <a:t>Fallos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80" b="0">
                <a:solidFill>
                  <a:srgbClr val="CFDDF2"/>
                </a:solidFill>
                <a:latin typeface="Calibri"/>
              </a:rPr>
              <a:t>Si el banco emisor falla, el rechazo o cobro doble sí se expone al usuario.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18888" y="2916936"/>
            <a:ext cx="3547872" cy="868680"/>
          </a:xfrm>
          <a:prstGeom prst="rect">
            <a:avLst/>
          </a:prstGeom>
          <a:noFill/>
        </p:spPr>
        <p:txBody>
          <a:bodyPr wrap="square" anchor="t" lIns="109728" rIns="109728" tIns="73152" bIns="73152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80" b="1">
                <a:solidFill>
                  <a:srgbClr val="CFDDF2"/>
                </a:solidFill>
                <a:latin typeface="Calibri"/>
              </a:rPr>
              <a:t>Concurrencia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80" b="0">
                <a:solidFill>
                  <a:srgbClr val="CFDDF2"/>
                </a:solidFill>
                <a:latin typeface="Calibri"/>
              </a:rPr>
              <a:t>En eventos masivos (CyberDay) la alta demanda genera demoras visibles.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18888" y="3849624"/>
            <a:ext cx="3547872" cy="868680"/>
          </a:xfrm>
          <a:prstGeom prst="rect">
            <a:avLst/>
          </a:prstGeom>
          <a:noFill/>
        </p:spPr>
        <p:txBody>
          <a:bodyPr wrap="square" anchor="t" lIns="109728" rIns="109728" tIns="73152" bIns="73152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80" b="1">
                <a:solidFill>
                  <a:srgbClr val="CFDDF2"/>
                </a:solidFill>
                <a:latin typeface="Calibri"/>
              </a:rPr>
              <a:t>Rendimiento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80" b="0">
                <a:solidFill>
                  <a:srgbClr val="CFDDF2"/>
                </a:solidFill>
                <a:latin typeface="Calibri"/>
              </a:rPr>
              <a:t>Cada banco responde a distinta velocidad y eso se nota entre medios de pago.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49640" y="4864608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CFDDF2"/>
                </a:solidFill>
                <a:latin typeface="Calibri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37309475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73152"/>
            <a:ext cx="81381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b="1" i="0">
                <a:solidFill>
                  <a:srgbClr val="F2B705"/>
                </a:solidFill>
                <a:latin typeface="Calibri"/>
              </a:rPr>
              <a:t>DIAGRAMA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81381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Cambria"/>
              </a:rPr>
              <a:t>Diagrama de nodos y mensajes (base para Docker)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691640"/>
            <a:ext cx="1417320" cy="777240"/>
          </a:xfrm>
          <a:prstGeom prst="roundRect">
            <a:avLst>
              <a:gd name="adj" fmla="val 14000"/>
            </a:avLst>
          </a:prstGeom>
          <a:solidFill>
            <a:srgbClr val="1B56A8"/>
          </a:solidFill>
          <a:ln w="15875">
            <a:solidFill>
              <a:srgbClr val="F2B70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Cliente</a:t>
            </a:r>
          </a:p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(navegador)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331720" y="1691640"/>
            <a:ext cx="1417320" cy="777240"/>
          </a:xfrm>
          <a:prstGeom prst="roundRect">
            <a:avLst>
              <a:gd name="adj" fmla="val 14000"/>
            </a:avLst>
          </a:prstGeom>
          <a:solidFill>
            <a:srgbClr val="1B56A8"/>
          </a:solidFill>
          <a:ln w="15875">
            <a:solidFill>
              <a:srgbClr val="F2B70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Comercio</a:t>
            </a:r>
          </a:p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(servidor)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60520" y="1691640"/>
            <a:ext cx="1508760" cy="777240"/>
          </a:xfrm>
          <a:prstGeom prst="roundRect">
            <a:avLst>
              <a:gd name="adj" fmla="val 14000"/>
            </a:avLst>
          </a:prstGeom>
          <a:solidFill>
            <a:srgbClr val="1B56A8"/>
          </a:solidFill>
          <a:ln w="15875">
            <a:solidFill>
              <a:srgbClr val="F2B70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Webpay Plus</a:t>
            </a:r>
          </a:p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(Transbank)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55080" y="960120"/>
            <a:ext cx="1737360" cy="658368"/>
          </a:xfrm>
          <a:prstGeom prst="roundRect">
            <a:avLst>
              <a:gd name="adj" fmla="val 14000"/>
            </a:avLst>
          </a:prstGeom>
          <a:solidFill>
            <a:srgbClr val="1B56A8"/>
          </a:solidFill>
          <a:ln w="15875">
            <a:solidFill>
              <a:srgbClr val="F2B70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Banco emisor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55080" y="2578608"/>
            <a:ext cx="1737360" cy="777240"/>
          </a:xfrm>
          <a:prstGeom prst="roundRect">
            <a:avLst>
              <a:gd name="adj" fmla="val 14000"/>
            </a:avLst>
          </a:prstGeom>
          <a:solidFill>
            <a:srgbClr val="1B56A8"/>
          </a:solidFill>
          <a:ln w="15875">
            <a:solidFill>
              <a:srgbClr val="F2B70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Marca / Red</a:t>
            </a:r>
          </a:p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(Visa · Redcompra)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920240" y="2080260"/>
            <a:ext cx="411480" cy="0"/>
          </a:xfrm>
          <a:prstGeom prst="line">
            <a:avLst/>
          </a:prstGeom>
          <a:ln w="19050">
            <a:solidFill>
              <a:srgbClr val="CFDDF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1970532" y="1924812"/>
            <a:ext cx="310896" cy="310896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0C4596"/>
                </a:solidFill>
                <a:latin typeface="Calibri"/>
              </a:rPr>
              <a:t>1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749040" y="2080260"/>
            <a:ext cx="411480" cy="0"/>
          </a:xfrm>
          <a:prstGeom prst="line">
            <a:avLst/>
          </a:prstGeom>
          <a:ln w="19050">
            <a:solidFill>
              <a:srgbClr val="CFDDF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3799332" y="1924812"/>
            <a:ext cx="310896" cy="310896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0C4596"/>
                </a:solidFill>
                <a:latin typeface="Calibri"/>
              </a:rPr>
              <a:t>2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5669280" y="1289304"/>
            <a:ext cx="685800" cy="566928"/>
          </a:xfrm>
          <a:prstGeom prst="line">
            <a:avLst/>
          </a:prstGeom>
          <a:ln w="19050">
            <a:solidFill>
              <a:srgbClr val="CFDDF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5856732" y="1417320"/>
            <a:ext cx="310896" cy="310896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0C4596"/>
                </a:solidFill>
                <a:latin typeface="Calibri"/>
              </a:rPr>
              <a:t>3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669280" y="2304288"/>
            <a:ext cx="685800" cy="662940"/>
          </a:xfrm>
          <a:prstGeom prst="line">
            <a:avLst/>
          </a:prstGeom>
          <a:ln w="19050">
            <a:solidFill>
              <a:srgbClr val="CFDDF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5856732" y="2480310"/>
            <a:ext cx="310896" cy="310896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0C4596"/>
                </a:solidFill>
                <a:latin typeface="Calibri"/>
              </a:rPr>
              <a:t>4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914900" y="2468880"/>
            <a:ext cx="0" cy="182880"/>
          </a:xfrm>
          <a:prstGeom prst="line">
            <a:avLst/>
          </a:prstGeom>
          <a:ln w="19050">
            <a:solidFill>
              <a:srgbClr val="CFDDF2"/>
            </a:solidFill>
            <a:tailEnd type="triangle" w="med" len="med"/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4759452" y="2404872"/>
            <a:ext cx="310896" cy="310896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0C4596"/>
                </a:solidFill>
                <a:latin typeface="Calibri"/>
              </a:rPr>
              <a:t>5</a:t>
            </a:r>
          </a:p>
        </p:txBody>
      </p:sp>
      <p:cxnSp>
        <p:nvCxnSpPr>
          <p:cNvPr id="19" name="Connector 18"/>
          <p:cNvCxnSpPr/>
          <p:nvPr/>
        </p:nvCxnSpPr>
        <p:spPr>
          <a:xfrm flipH="1">
            <a:off x="3040380" y="2651760"/>
            <a:ext cx="1120140" cy="0"/>
          </a:xfrm>
          <a:prstGeom prst="line">
            <a:avLst/>
          </a:prstGeom>
          <a:ln w="19050">
            <a:solidFill>
              <a:srgbClr val="CFDDF2"/>
            </a:solidFill>
            <a:tailEnd type="triangle" w="med" len="med"/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H="1">
            <a:off x="1211580" y="2651760"/>
            <a:ext cx="1828800" cy="0"/>
          </a:xfrm>
          <a:prstGeom prst="line">
            <a:avLst/>
          </a:prstGeom>
          <a:ln w="19050">
            <a:solidFill>
              <a:srgbClr val="CFDDF2"/>
            </a:solidFill>
            <a:tailEnd type="triangle" w="med" len="med"/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1970532" y="2496312"/>
            <a:ext cx="310896" cy="310896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0C4596"/>
                </a:solidFill>
                <a:latin typeface="Calibri"/>
              </a:rPr>
              <a:t>6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3040380" y="2468880"/>
            <a:ext cx="0" cy="182880"/>
          </a:xfrm>
          <a:prstGeom prst="line">
            <a:avLst/>
          </a:prstGeom>
          <a:ln w="19050">
            <a:solidFill>
              <a:srgbClr val="CFDD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211580" y="2468880"/>
            <a:ext cx="0" cy="182880"/>
          </a:xfrm>
          <a:prstGeom prst="line">
            <a:avLst/>
          </a:prstGeom>
          <a:ln w="19050">
            <a:solidFill>
              <a:srgbClr val="CFDD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Oval 23"/>
          <p:cNvSpPr/>
          <p:nvPr/>
        </p:nvSpPr>
        <p:spPr>
          <a:xfrm>
            <a:off x="502920" y="3474720"/>
            <a:ext cx="237744" cy="237744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50" b="1">
                <a:solidFill>
                  <a:srgbClr val="0C4596"/>
                </a:solidFill>
                <a:latin typeface="Calibri"/>
              </a:rP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2104" y="3429000"/>
            <a:ext cx="3749039" cy="347472"/>
          </a:xfrm>
          <a:prstGeom prst="rect">
            <a:avLst/>
          </a:prstGeom>
          <a:noFill/>
        </p:spPr>
        <p:txBody>
          <a:bodyPr wrap="square" anchor="t" lIns="109728" rIns="109728" tIns="73152" bIns="7315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69" b="0">
                <a:solidFill>
                  <a:srgbClr val="CFDDF2"/>
                </a:solidFill>
                <a:latin typeface="Calibri"/>
              </a:rPr>
              <a:t>Cliente elige pagar — HTTPS</a:t>
            </a:r>
          </a:p>
        </p:txBody>
      </p:sp>
      <p:sp>
        <p:nvSpPr>
          <p:cNvPr id="26" name="Oval 25"/>
          <p:cNvSpPr/>
          <p:nvPr/>
        </p:nvSpPr>
        <p:spPr>
          <a:xfrm>
            <a:off x="502920" y="3858768"/>
            <a:ext cx="237744" cy="237744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50" b="1">
                <a:solidFill>
                  <a:srgbClr val="0C4596"/>
                </a:solidFill>
                <a:latin typeface="Calibri"/>
              </a:rP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104" y="3813048"/>
            <a:ext cx="3749039" cy="347472"/>
          </a:xfrm>
          <a:prstGeom prst="rect">
            <a:avLst/>
          </a:prstGeom>
          <a:noFill/>
        </p:spPr>
        <p:txBody>
          <a:bodyPr wrap="square" anchor="t" lIns="109728" rIns="109728" tIns="73152" bIns="7315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69" b="0">
                <a:solidFill>
                  <a:srgbClr val="CFDDF2"/>
                </a:solidFill>
                <a:latin typeface="Calibri"/>
              </a:rPr>
              <a:t>Comercio crea la transacción — HTTPS/REST</a:t>
            </a:r>
          </a:p>
        </p:txBody>
      </p:sp>
      <p:sp>
        <p:nvSpPr>
          <p:cNvPr id="28" name="Oval 27"/>
          <p:cNvSpPr/>
          <p:nvPr/>
        </p:nvSpPr>
        <p:spPr>
          <a:xfrm>
            <a:off x="502920" y="4242816"/>
            <a:ext cx="237744" cy="237744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50" b="1">
                <a:solidFill>
                  <a:srgbClr val="0C4596"/>
                </a:solidFill>
                <a:latin typeface="Calibri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2104" y="4197096"/>
            <a:ext cx="3749039" cy="347472"/>
          </a:xfrm>
          <a:prstGeom prst="rect">
            <a:avLst/>
          </a:prstGeom>
          <a:noFill/>
        </p:spPr>
        <p:txBody>
          <a:bodyPr wrap="square" anchor="t" lIns="109728" rIns="109728" tIns="73152" bIns="7315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69" b="0">
                <a:solidFill>
                  <a:srgbClr val="CFDDF2"/>
                </a:solidFill>
                <a:latin typeface="Calibri"/>
              </a:rPr>
              <a:t>Webpay solicita autorización al emisor — ISO 8583</a:t>
            </a:r>
          </a:p>
        </p:txBody>
      </p:sp>
      <p:sp>
        <p:nvSpPr>
          <p:cNvPr id="30" name="Oval 29"/>
          <p:cNvSpPr/>
          <p:nvPr/>
        </p:nvSpPr>
        <p:spPr>
          <a:xfrm>
            <a:off x="4663440" y="3474720"/>
            <a:ext cx="237744" cy="237744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50" b="1">
                <a:solidFill>
                  <a:srgbClr val="0C4596"/>
                </a:solidFill>
                <a:latin typeface="Calibri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992624" y="3429000"/>
            <a:ext cx="3749039" cy="347472"/>
          </a:xfrm>
          <a:prstGeom prst="rect">
            <a:avLst/>
          </a:prstGeom>
          <a:noFill/>
        </p:spPr>
        <p:txBody>
          <a:bodyPr wrap="square" anchor="t" lIns="109728" rIns="109728" tIns="73152" bIns="7315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69" b="0">
                <a:solidFill>
                  <a:srgbClr val="CFDDF2"/>
                </a:solidFill>
                <a:latin typeface="Calibri"/>
              </a:rPr>
              <a:t>Webpay valida con la red de la tarjeta — ISO 8583</a:t>
            </a:r>
          </a:p>
        </p:txBody>
      </p:sp>
      <p:sp>
        <p:nvSpPr>
          <p:cNvPr id="32" name="Oval 31"/>
          <p:cNvSpPr/>
          <p:nvPr/>
        </p:nvSpPr>
        <p:spPr>
          <a:xfrm>
            <a:off x="4663440" y="3858768"/>
            <a:ext cx="237744" cy="237744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50" b="1">
                <a:solidFill>
                  <a:srgbClr val="0C4596"/>
                </a:solidFill>
                <a:latin typeface="Calibri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992624" y="3813048"/>
            <a:ext cx="3749039" cy="347472"/>
          </a:xfrm>
          <a:prstGeom prst="rect">
            <a:avLst/>
          </a:prstGeom>
          <a:noFill/>
        </p:spPr>
        <p:txBody>
          <a:bodyPr wrap="square" anchor="t" lIns="109728" rIns="109728" tIns="73152" bIns="7315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69" b="0">
                <a:solidFill>
                  <a:srgbClr val="CFDDF2"/>
                </a:solidFill>
                <a:latin typeface="Calibri"/>
              </a:rPr>
              <a:t>Autorización o rechazo vuelve a Webpay</a:t>
            </a:r>
          </a:p>
        </p:txBody>
      </p:sp>
      <p:sp>
        <p:nvSpPr>
          <p:cNvPr id="34" name="Oval 33"/>
          <p:cNvSpPr/>
          <p:nvPr/>
        </p:nvSpPr>
        <p:spPr>
          <a:xfrm>
            <a:off x="4663440" y="4242816"/>
            <a:ext cx="237744" cy="237744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50" b="1">
                <a:solidFill>
                  <a:srgbClr val="0C4596"/>
                </a:solidFill>
                <a:latin typeface="Calibri"/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992624" y="4197096"/>
            <a:ext cx="3749039" cy="347472"/>
          </a:xfrm>
          <a:prstGeom prst="rect">
            <a:avLst/>
          </a:prstGeom>
          <a:noFill/>
        </p:spPr>
        <p:txBody>
          <a:bodyPr wrap="square" anchor="t" lIns="109728" rIns="109728" tIns="73152" bIns="7315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69" b="0">
                <a:solidFill>
                  <a:srgbClr val="CFDDF2"/>
                </a:solidFill>
                <a:latin typeface="Calibri"/>
              </a:rPr>
              <a:t>Resultado llega al comercio y al cliente — redirect HTTP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2920" y="4681728"/>
            <a:ext cx="7772400" cy="274320"/>
          </a:xfrm>
          <a:prstGeom prst="rect">
            <a:avLst/>
          </a:prstGeom>
          <a:noFill/>
        </p:spPr>
        <p:txBody>
          <a:bodyPr wrap="square" anchor="t" lIns="109728" rIns="109728" tIns="73152" bIns="73152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930" b="0">
                <a:solidFill>
                  <a:srgbClr val="F2B705"/>
                </a:solidFill>
                <a:latin typeface="Calibri"/>
              </a:rPr>
              <a:t>Implementación prevista en Docker: contenedores comercio, mock-transbank (simula Webpay Plus) y emisor, comunicados por HTTP en una misma red.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49640" y="4864608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CFDDF2"/>
                </a:solidFill>
                <a:latin typeface="Calibri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37309475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73152"/>
            <a:ext cx="81381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b="1" i="0">
                <a:solidFill>
                  <a:srgbClr val="F2B705"/>
                </a:solidFill>
                <a:latin typeface="Calibri"/>
              </a:rPr>
              <a:t>FUENTES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81381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FFFFFF"/>
                </a:solidFill>
                <a:latin typeface="Cambria"/>
              </a:rPr>
              <a:t>Referencias y bibliografía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325880"/>
            <a:ext cx="8138160" cy="960120"/>
          </a:xfrm>
          <a:prstGeom prst="roundRect">
            <a:avLst>
              <a:gd name="adj" fmla="val 8000"/>
            </a:avLst>
          </a:prstGeom>
          <a:solidFill>
            <a:srgbClr val="1B56A8"/>
          </a:solidFill>
          <a:ln w="9525">
            <a:solidFill>
              <a:srgbClr val="3A7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85800" y="1490472"/>
            <a:ext cx="365760" cy="36576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0C4596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1399032"/>
            <a:ext cx="7223760" cy="813816"/>
          </a:xfrm>
          <a:prstGeom prst="rect">
            <a:avLst/>
          </a:prstGeom>
          <a:noFill/>
        </p:spPr>
        <p:txBody>
          <a:bodyPr wrap="square" anchor="t" lIns="109728" rIns="109728" tIns="73152" bIns="73152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120" b="1">
                <a:solidFill>
                  <a:srgbClr val="FFFFFF"/>
                </a:solidFill>
                <a:latin typeface="Calibri"/>
              </a:rPr>
              <a:t>Tanenbaum, A. S. &amp; Van Steen, M. (2017). Distributed Systems: Principles and Paradigms (3.ª ed.).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50" b="0">
                <a:solidFill>
                  <a:srgbClr val="CFDDF2"/>
                </a:solidFill>
                <a:latin typeface="Calibri"/>
              </a:rPr>
              <a:t>Bibliografía del curso — base conceptual de nodos, comunicación, tolerancia a fallos y transparencias usada en esta presentación.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414016"/>
            <a:ext cx="8138160" cy="960120"/>
          </a:xfrm>
          <a:prstGeom prst="roundRect">
            <a:avLst>
              <a:gd name="adj" fmla="val 8000"/>
            </a:avLst>
          </a:prstGeom>
          <a:solidFill>
            <a:srgbClr val="1B56A8"/>
          </a:solidFill>
          <a:ln w="9525">
            <a:solidFill>
              <a:srgbClr val="3A7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85800" y="2578608"/>
            <a:ext cx="365760" cy="36576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0C4596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487168"/>
            <a:ext cx="7223760" cy="813816"/>
          </a:xfrm>
          <a:prstGeom prst="rect">
            <a:avLst/>
          </a:prstGeom>
          <a:noFill/>
        </p:spPr>
        <p:txBody>
          <a:bodyPr wrap="square" anchor="t" lIns="109728" rIns="109728" tIns="73152" bIns="73152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120" b="1">
                <a:solidFill>
                  <a:srgbClr val="FFFFFF"/>
                </a:solidFill>
                <a:latin typeface="Calibri"/>
              </a:rPr>
              <a:t>Transbank Developers (s.f.). Documentación oficial de Webpay Plus. transbankdevelopers.cl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50" b="0">
                <a:solidFill>
                  <a:srgbClr val="CFDDF2"/>
                </a:solidFill>
                <a:latin typeface="Calibri"/>
              </a:rPr>
              <a:t>Describe el flujo de pago, los productos Webpay y la API REST usada entre el comercio y Transbank.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3502152"/>
            <a:ext cx="8138160" cy="960120"/>
          </a:xfrm>
          <a:prstGeom prst="roundRect">
            <a:avLst>
              <a:gd name="adj" fmla="val 8000"/>
            </a:avLst>
          </a:prstGeom>
          <a:solidFill>
            <a:srgbClr val="1B56A8"/>
          </a:solidFill>
          <a:ln w="9525">
            <a:solidFill>
              <a:srgbClr val="3A7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85800" y="3666744"/>
            <a:ext cx="365760" cy="36576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0C4596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3575304"/>
            <a:ext cx="7223760" cy="813816"/>
          </a:xfrm>
          <a:prstGeom prst="rect">
            <a:avLst/>
          </a:prstGeom>
          <a:noFill/>
        </p:spPr>
        <p:txBody>
          <a:bodyPr wrap="square" anchor="t" lIns="109728" rIns="109728" tIns="73152" bIns="73152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120" b="1">
                <a:solidFill>
                  <a:srgbClr val="FFFFFF"/>
                </a:solidFill>
                <a:latin typeface="Calibri"/>
              </a:rPr>
              <a:t>La Tercera (31 de enero de 2023). “Transbank reconoce intermitencias en su servicio y apunta a caída de datacenter externo”.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50" b="0">
                <a:solidFill>
                  <a:srgbClr val="CFDDF2"/>
                </a:solidFill>
                <a:latin typeface="Calibri"/>
              </a:rPr>
              <a:t>Fuente periodística del incidente real usado en la sección de fallas y tolerancia.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4608576"/>
            <a:ext cx="7863840" cy="274320"/>
          </a:xfrm>
          <a:prstGeom prst="rect">
            <a:avLst/>
          </a:prstGeom>
          <a:noFill/>
        </p:spPr>
        <p:txBody>
          <a:bodyPr wrap="square" anchor="t" lIns="109728" rIns="109728" tIns="73152" bIns="73152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930" b="0">
                <a:solidFill>
                  <a:srgbClr val="F2B705"/>
                </a:solidFill>
                <a:latin typeface="Calibri"/>
              </a:rPr>
              <a:t>* La fuente 1 corresponde a la bibliografía del programa del curso.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49640" y="4864608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CFDDF2"/>
                </a:solidFill>
                <a:latin typeface="Calibri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373094759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26</TotalTime>
  <Words>2</Words>
  <Application>Microsoft Macintosh PowerPoint</Application>
  <PresentationFormat>Presentación en pantalla (16:9)</PresentationFormat>
  <Paragraphs>2</Paragraphs>
  <Slides>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Tema de Office</vt:lpstr>
      <vt:lpstr>PORTADA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Microsoft Office User</dc:creator>
  <cp:lastModifiedBy>Microsoft Office User</cp:lastModifiedBy>
  <cp:revision>5</cp:revision>
  <dcterms:created xsi:type="dcterms:W3CDTF">2022-04-20T21:54:46Z</dcterms:created>
  <dcterms:modified xsi:type="dcterms:W3CDTF">2022-07-13T14:34:53Z</dcterms:modified>
</cp:coreProperties>
</file>